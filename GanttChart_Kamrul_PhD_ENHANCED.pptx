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618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20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320040" cy="6793992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9601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MY GRADUATE PROGRAM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67712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PhD in Technology  ·  Purdue Polytechnic Institute  ·  Spring 2026 – Fall 2029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61488"/>
            <a:ext cx="6400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Md Kamruzzaman Kamrul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Bowen School of Construction Management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Advisor: Dr. Heung Jin Oh  ·  Wii Lab  ·  CSE Concentration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60520"/>
            <a:ext cx="201168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422452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B82F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91456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 CREDITS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4160520"/>
            <a:ext cx="201168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61488" y="422452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B82F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4791456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TRANSFER (GSU)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74336" y="4160520"/>
            <a:ext cx="201168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74336" y="422452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B82F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336" y="4791456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PURDUE COURSEWORK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87183" y="4160520"/>
            <a:ext cx="201168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87183" y="422452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3B82F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r>
              <a:rPr sz="3000" b="1" dirty="0">
                <a:solidFill>
                  <a:srgbClr val="3B82F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3" y="4791456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DISSERTATION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00032" y="4160520"/>
            <a:ext cx="201168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00032" y="422452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B82F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 YRS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4791456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DURATION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33872"/>
            <a:ext cx="201168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4672" y="5797296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Transfer (GSU)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61488" y="5833872"/>
            <a:ext cx="201168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17520" y="5797296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Current (Sp 2026)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74336" y="5833872"/>
            <a:ext cx="20116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30368" y="5797296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Planned Courses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87183" y="5833872"/>
            <a:ext cx="201168" cy="201168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443215" y="5797296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Dissertation Research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00032" y="5833872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56063" y="5797296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Milestone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MY GRADUATE PROGRAM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0058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Kamruzzaman Kamrul  ·  PhD Technology  ·  Purdue  ·  Spring 2026 – Fall 2029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B635859D-C03A-3AC0-5D68-94AE92E3D60B}"/>
              </a:ext>
            </a:extLst>
          </p:cNvPr>
          <p:cNvGrpSpPr/>
          <p:nvPr/>
        </p:nvGrpSpPr>
        <p:grpSpPr>
          <a:xfrm>
            <a:off x="0" y="731520"/>
            <a:ext cx="12106656" cy="5330729"/>
            <a:chOff x="0" y="731520"/>
            <a:chExt cx="12106656" cy="4756489"/>
          </a:xfrm>
        </p:grpSpPr>
        <p:sp>
          <p:nvSpPr>
            <p:cNvPr id="6" name="Rectangle 5"/>
            <p:cNvSpPr/>
            <p:nvPr/>
          </p:nvSpPr>
          <p:spPr>
            <a:xfrm>
              <a:off x="2651760" y="996696"/>
              <a:ext cx="786384" cy="3610965"/>
            </a:xfrm>
            <a:prstGeom prst="rect">
              <a:avLst/>
            </a:prstGeom>
            <a:solidFill>
              <a:srgbClr val="0B0F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651760" y="996696"/>
              <a:ext cx="786384" cy="3610965"/>
            </a:xfrm>
            <a:prstGeom prst="rect">
              <a:avLst/>
            </a:prstGeom>
            <a:solidFill>
              <a:srgbClr val="0B1E3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660903" y="731520"/>
              <a:ext cx="768096" cy="219456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651760" y="740664"/>
              <a:ext cx="786384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Sp'26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438144" y="996696"/>
              <a:ext cx="786384" cy="3610965"/>
            </a:xfrm>
            <a:prstGeom prst="rect">
              <a:avLst/>
            </a:prstGeom>
            <a:solidFill>
              <a:srgbClr val="090D1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447287" y="731520"/>
              <a:ext cx="768096" cy="219456"/>
            </a:xfrm>
            <a:prstGeom prst="rect">
              <a:avLst/>
            </a:prstGeom>
            <a:solidFill>
              <a:srgbClr val="1C2D3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438144" y="740664"/>
              <a:ext cx="786384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Su'26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224528" y="996696"/>
              <a:ext cx="786384" cy="3610965"/>
            </a:xfrm>
            <a:prstGeom prst="rect">
              <a:avLst/>
            </a:prstGeom>
            <a:solidFill>
              <a:srgbClr val="0B0F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233672" y="731520"/>
              <a:ext cx="768096" cy="219456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224528" y="740664"/>
              <a:ext cx="786384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Fa'26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010912" y="996696"/>
              <a:ext cx="786384" cy="3610965"/>
            </a:xfrm>
            <a:prstGeom prst="rect">
              <a:avLst/>
            </a:prstGeom>
            <a:solidFill>
              <a:srgbClr val="0D13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020056" y="731520"/>
              <a:ext cx="768096" cy="219456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010912" y="740664"/>
              <a:ext cx="786384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Sp'27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797296" y="996696"/>
              <a:ext cx="786384" cy="3610965"/>
            </a:xfrm>
            <a:prstGeom prst="rect">
              <a:avLst/>
            </a:prstGeom>
            <a:solidFill>
              <a:srgbClr val="090D1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806440" y="731520"/>
              <a:ext cx="768096" cy="219456"/>
            </a:xfrm>
            <a:prstGeom prst="rect">
              <a:avLst/>
            </a:prstGeom>
            <a:solidFill>
              <a:srgbClr val="1C2D3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7296" y="740664"/>
              <a:ext cx="786384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Su'27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583679" y="996696"/>
              <a:ext cx="786384" cy="3610965"/>
            </a:xfrm>
            <a:prstGeom prst="rect">
              <a:avLst/>
            </a:prstGeom>
            <a:solidFill>
              <a:srgbClr val="0D13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592823" y="731520"/>
              <a:ext cx="768096" cy="219456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583679" y="740664"/>
              <a:ext cx="786384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Fa'27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370064" y="996696"/>
              <a:ext cx="786384" cy="3610965"/>
            </a:xfrm>
            <a:prstGeom prst="rect">
              <a:avLst/>
            </a:prstGeom>
            <a:solidFill>
              <a:srgbClr val="0B0F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379208" y="731520"/>
              <a:ext cx="768096" cy="219456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370064" y="740664"/>
              <a:ext cx="786384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Sp'28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156448" y="996696"/>
              <a:ext cx="786384" cy="3610965"/>
            </a:xfrm>
            <a:prstGeom prst="rect">
              <a:avLst/>
            </a:prstGeom>
            <a:solidFill>
              <a:srgbClr val="090D1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165592" y="731520"/>
              <a:ext cx="768096" cy="219456"/>
            </a:xfrm>
            <a:prstGeom prst="rect">
              <a:avLst/>
            </a:prstGeom>
            <a:solidFill>
              <a:srgbClr val="1C2D3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156448" y="740664"/>
              <a:ext cx="786384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Su'28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942832" y="996696"/>
              <a:ext cx="786384" cy="3610965"/>
            </a:xfrm>
            <a:prstGeom prst="rect">
              <a:avLst/>
            </a:prstGeom>
            <a:solidFill>
              <a:srgbClr val="0B0F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951976" y="731520"/>
              <a:ext cx="768096" cy="219456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942832" y="740664"/>
              <a:ext cx="786384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Fa'28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9729216" y="996696"/>
              <a:ext cx="786384" cy="3610965"/>
            </a:xfrm>
            <a:prstGeom prst="rect">
              <a:avLst/>
            </a:prstGeom>
            <a:solidFill>
              <a:srgbClr val="0D13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738360" y="731520"/>
              <a:ext cx="768096" cy="219456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729216" y="740664"/>
              <a:ext cx="786384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Sp'29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515600" y="996696"/>
              <a:ext cx="786384" cy="3610965"/>
            </a:xfrm>
            <a:prstGeom prst="rect">
              <a:avLst/>
            </a:prstGeom>
            <a:solidFill>
              <a:srgbClr val="090D1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524744" y="731520"/>
              <a:ext cx="768096" cy="219456"/>
            </a:xfrm>
            <a:prstGeom prst="rect">
              <a:avLst/>
            </a:prstGeom>
            <a:solidFill>
              <a:srgbClr val="1C2D3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515600" y="740664"/>
              <a:ext cx="786384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Su'29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1301984" y="996696"/>
              <a:ext cx="786384" cy="3610965"/>
            </a:xfrm>
            <a:prstGeom prst="rect">
              <a:avLst/>
            </a:prstGeom>
            <a:solidFill>
              <a:srgbClr val="0D13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1311128" y="731520"/>
              <a:ext cx="768096" cy="219456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1301984" y="740664"/>
              <a:ext cx="786384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Fa'29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0" y="996696"/>
              <a:ext cx="54864" cy="178308"/>
            </a:xfrm>
            <a:prstGeom prst="rect">
              <a:avLst/>
            </a:prstGeom>
            <a:solidFill>
              <a:srgbClr val="4F46E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4864" y="996696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1440" y="985265"/>
              <a:ext cx="2487168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64748B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TRANSFER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4864" y="996696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9728" y="1010412"/>
              <a:ext cx="2034531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GSU MS Transfer — 7 Courses (21 cr)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665476" y="1010412"/>
              <a:ext cx="758952" cy="150876"/>
            </a:xfrm>
            <a:prstGeom prst="rect">
              <a:avLst/>
            </a:prstGeom>
            <a:solidFill>
              <a:srgbClr val="4F46E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0" y="1232611"/>
              <a:ext cx="54864" cy="1106423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4864" y="1232611"/>
              <a:ext cx="2560320" cy="1106423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1440" y="1685239"/>
              <a:ext cx="2487168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64748B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CORE REQUIRED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4864" y="1232611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09728" y="1246327"/>
              <a:ext cx="2273379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TECH 60300  Grad Seminar Planning (1cr)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665476" y="1246327"/>
              <a:ext cx="758952" cy="150876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4864" y="1418234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09728" y="1431950"/>
              <a:ext cx="2632452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MET 52700  Technology: Global Perspective (3cr)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238244" y="1431950"/>
              <a:ext cx="758952" cy="150876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4864" y="1603857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09728" y="1617573"/>
              <a:ext cx="2323072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STAT 50100  Experimental Statistics I (3cr)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238244" y="1617573"/>
              <a:ext cx="758952" cy="150876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54864" y="1789480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9728" y="1803196"/>
              <a:ext cx="2026517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TECH 60100  Research Seminar (1cr)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238244" y="1803196"/>
              <a:ext cx="758952" cy="150876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4864" y="1975104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09728" y="1988820"/>
              <a:ext cx="2722220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TECH 64600  Analysis of Research in Industry (3cr)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238244" y="1988820"/>
              <a:ext cx="758952" cy="150876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4864" y="2160727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09728" y="2174443"/>
              <a:ext cx="2605200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TECH 67600  Analysis of Research Methods (3cr)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024628" y="2174443"/>
              <a:ext cx="758952" cy="150876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0" y="2396642"/>
              <a:ext cx="54864" cy="549554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4864" y="2396642"/>
              <a:ext cx="2560320" cy="549554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1440" y="2570835"/>
              <a:ext cx="2487168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64748B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TECH / DISCOVERY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54864" y="2396642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09728" y="2410358"/>
              <a:ext cx="2452916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STAT 52000  Time Series &amp; Applications (3cr)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2665476" y="2410358"/>
              <a:ext cx="758952" cy="150876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54864" y="2582265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09728" y="2595981"/>
              <a:ext cx="2581156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STAT 52400  Applied Multivariate Analysis (3cr)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6597395" y="2595981"/>
              <a:ext cx="758952" cy="150876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54864" y="2767888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09728" y="2781604"/>
              <a:ext cx="2236510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STAT 51400  Design of Experiments (3cr)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6597395" y="2781604"/>
              <a:ext cx="758952" cy="150876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0" y="3003803"/>
              <a:ext cx="54864" cy="735177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54864" y="3003803"/>
              <a:ext cx="2560320" cy="735177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91440" y="3270808"/>
              <a:ext cx="2487168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64748B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CSE CONCENTRATION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54864" y="3003803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09728" y="3017520"/>
              <a:ext cx="2374368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CS 57800  Statistical Machine Learning (3cr)</a:t>
              </a: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5024628" y="3017520"/>
              <a:ext cx="758952" cy="150876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54864" y="3189427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109728" y="3203143"/>
              <a:ext cx="2379177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CS 52000  Computational Optimization (3cr)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5024628" y="3203143"/>
              <a:ext cx="758952" cy="150876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54864" y="3375050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09728" y="3388766"/>
              <a:ext cx="2087431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ECE 57000  Artificial Intelligence (3cr)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6597395" y="3388766"/>
              <a:ext cx="758952" cy="150876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4864" y="3560673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09728" y="3574389"/>
              <a:ext cx="2270173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GRAD 68900  CSE Seminar 0cr (recurring)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8956548" y="3574389"/>
              <a:ext cx="3118104" cy="150876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0" y="3796588"/>
              <a:ext cx="54864" cy="549554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54864" y="3796588"/>
              <a:ext cx="2560320" cy="549554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91440" y="3970781"/>
              <a:ext cx="2487168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64748B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COGNATE ELECTIVES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54864" y="3796588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09728" y="3810304"/>
              <a:ext cx="1808508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CS 59300  Computer Vision (3cr)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665476" y="3810304"/>
              <a:ext cx="758952" cy="150876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54864" y="3982211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109728" y="3995927"/>
              <a:ext cx="2164375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ECE 59500  Selected Topics in ECE (3cr)</a:t>
              </a: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2665476" y="3995927"/>
              <a:ext cx="758952" cy="150876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54864" y="4167835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09728" y="4181551"/>
              <a:ext cx="2390398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CS 58000  Algorithm Design &amp; Analysis (3cr)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7383780" y="4181551"/>
              <a:ext cx="758952" cy="150876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0" y="4403750"/>
              <a:ext cx="54864" cy="178308"/>
            </a:xfrm>
            <a:prstGeom prst="rect">
              <a:avLst/>
            </a:prstGeom>
            <a:solidFill>
              <a:srgbClr val="BE18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54864" y="4403750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91440" y="4392320"/>
              <a:ext cx="2487168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64748B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DISSERTATION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4864" y="4403750"/>
              <a:ext cx="2560320" cy="178308"/>
            </a:xfrm>
            <a:prstGeom prst="rect">
              <a:avLst/>
            </a:prstGeom>
            <a:solidFill>
              <a:srgbClr val="0D12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109728" y="4417466"/>
              <a:ext cx="2533066" cy="2059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9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TECH 69900  Dissertation Research: Phases 1-6</a:t>
              </a: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4238244" y="4417466"/>
              <a:ext cx="7836408" cy="150876"/>
            </a:xfrm>
            <a:prstGeom prst="rect">
              <a:avLst/>
            </a:prstGeom>
            <a:solidFill>
              <a:srgbClr val="BE18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5" name="Rectangle 114"/>
            <p:cNvSpPr/>
            <p:nvPr/>
          </p:nvSpPr>
          <p:spPr>
            <a:xfrm rot="2700000">
              <a:off x="6885431" y="4655210"/>
              <a:ext cx="182880" cy="18288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6565391" y="4856378"/>
              <a:ext cx="822960" cy="3570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59E0B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Prelim
Exam</a:t>
              </a:r>
            </a:p>
          </p:txBody>
        </p:sp>
        <p:cxnSp>
          <p:nvCxnSpPr>
            <p:cNvPr id="117" name="Connector 116"/>
            <p:cNvCxnSpPr/>
            <p:nvPr/>
          </p:nvCxnSpPr>
          <p:spPr>
            <a:xfrm>
              <a:off x="6976871" y="996696"/>
              <a:ext cx="0" cy="3667658"/>
            </a:xfrm>
            <a:prstGeom prst="line">
              <a:avLst/>
            </a:prstGeom>
            <a:ln w="9525">
              <a:solidFill>
                <a:srgbClr val="F59E0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Rectangle 117"/>
            <p:cNvSpPr/>
            <p:nvPr/>
          </p:nvSpPr>
          <p:spPr>
            <a:xfrm rot="2700000">
              <a:off x="9244584" y="4655210"/>
              <a:ext cx="182880" cy="18288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8924544" y="4856378"/>
              <a:ext cx="822960" cy="6316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dirty="0">
                  <a:solidFill>
                    <a:srgbClr val="F59E0B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Proposal
Defense</a:t>
              </a:r>
              <a:r>
                <a:rPr lang="en-US" sz="1000" b="1" dirty="0">
                  <a:solidFill>
                    <a:srgbClr val="F59E0B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, Data Collection</a:t>
              </a:r>
              <a:endParaRPr sz="1000" b="1" dirty="0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120" name="Connector 119"/>
            <p:cNvCxnSpPr/>
            <p:nvPr/>
          </p:nvCxnSpPr>
          <p:spPr>
            <a:xfrm>
              <a:off x="9336024" y="996696"/>
              <a:ext cx="0" cy="3667658"/>
            </a:xfrm>
            <a:prstGeom prst="line">
              <a:avLst/>
            </a:prstGeom>
            <a:ln w="9525">
              <a:solidFill>
                <a:srgbClr val="F59E0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Rectangle 120"/>
            <p:cNvSpPr/>
            <p:nvPr/>
          </p:nvSpPr>
          <p:spPr>
            <a:xfrm rot="2700000">
              <a:off x="9244584" y="4655210"/>
              <a:ext cx="182880" cy="18288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8933688" y="5148986"/>
              <a:ext cx="822960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sz="1000" b="1" dirty="0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123" name="Connector 122"/>
            <p:cNvCxnSpPr/>
            <p:nvPr/>
          </p:nvCxnSpPr>
          <p:spPr>
            <a:xfrm>
              <a:off x="9336024" y="996696"/>
              <a:ext cx="0" cy="3667658"/>
            </a:xfrm>
            <a:prstGeom prst="line">
              <a:avLst/>
            </a:prstGeom>
            <a:ln w="9525">
              <a:solidFill>
                <a:srgbClr val="F59E0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ectangle 123"/>
            <p:cNvSpPr/>
            <p:nvPr/>
          </p:nvSpPr>
          <p:spPr>
            <a:xfrm rot="2700000">
              <a:off x="10817352" y="4655210"/>
              <a:ext cx="182880" cy="18288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0497312" y="4856378"/>
              <a:ext cx="822960" cy="21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59E0B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Writing</a:t>
              </a:r>
            </a:p>
          </p:txBody>
        </p:sp>
        <p:cxnSp>
          <p:nvCxnSpPr>
            <p:cNvPr id="126" name="Connector 125"/>
            <p:cNvCxnSpPr/>
            <p:nvPr/>
          </p:nvCxnSpPr>
          <p:spPr>
            <a:xfrm>
              <a:off x="10908792" y="996696"/>
              <a:ext cx="0" cy="3667658"/>
            </a:xfrm>
            <a:prstGeom prst="line">
              <a:avLst/>
            </a:prstGeom>
            <a:ln w="9525">
              <a:solidFill>
                <a:srgbClr val="F59E0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Rectangle 126"/>
            <p:cNvSpPr/>
            <p:nvPr/>
          </p:nvSpPr>
          <p:spPr>
            <a:xfrm rot="2700000">
              <a:off x="11603736" y="4655210"/>
              <a:ext cx="182880" cy="18288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1283696" y="4856378"/>
              <a:ext cx="822960" cy="3570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F59E0B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Final
Defense</a:t>
              </a:r>
            </a:p>
          </p:txBody>
        </p:sp>
        <p:cxnSp>
          <p:nvCxnSpPr>
            <p:cNvPr id="129" name="Connector 128"/>
            <p:cNvCxnSpPr/>
            <p:nvPr/>
          </p:nvCxnSpPr>
          <p:spPr>
            <a:xfrm>
              <a:off x="11695176" y="996696"/>
              <a:ext cx="0" cy="3667658"/>
            </a:xfrm>
            <a:prstGeom prst="line">
              <a:avLst/>
            </a:prstGeom>
            <a:ln w="9525">
              <a:solidFill>
                <a:srgbClr val="F59E0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ectangle 129"/>
          <p:cNvSpPr/>
          <p:nvPr/>
        </p:nvSpPr>
        <p:spPr>
          <a:xfrm>
            <a:off x="274320" y="6510528"/>
            <a:ext cx="164592" cy="14630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493776" y="647395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Transfer Credits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606039" y="6510528"/>
            <a:ext cx="164592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2825496" y="647395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Current (Sp'26)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937759" y="6510528"/>
            <a:ext cx="164592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5157216" y="647395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Planned Courses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269479" y="6510528"/>
            <a:ext cx="164592" cy="146304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7488936" y="647395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Dissertation Research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601200" y="6510528"/>
            <a:ext cx="164592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9820656" y="647395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Milestone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4-YEAR PATH: PHASES &amp; KEY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38912"/>
            <a:ext cx="10058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Each milestone builds on prior coursework with specific outputs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D1CD52C-7563-DF43-F130-43835B34A241}"/>
              </a:ext>
            </a:extLst>
          </p:cNvPr>
          <p:cNvGrpSpPr/>
          <p:nvPr/>
        </p:nvGrpSpPr>
        <p:grpSpPr>
          <a:xfrm>
            <a:off x="320040" y="731520"/>
            <a:ext cx="11567160" cy="2267712"/>
            <a:chOff x="320040" y="731520"/>
            <a:chExt cx="11567160" cy="1353312"/>
          </a:xfrm>
        </p:grpSpPr>
        <p:sp>
          <p:nvSpPr>
            <p:cNvPr id="6" name="Rectangle 5"/>
            <p:cNvSpPr/>
            <p:nvPr/>
          </p:nvSpPr>
          <p:spPr>
            <a:xfrm>
              <a:off x="320040" y="731520"/>
              <a:ext cx="5669280" cy="292608"/>
            </a:xfrm>
            <a:prstGeom prst="rect">
              <a:avLst/>
            </a:prstGeom>
            <a:solidFill>
              <a:srgbClr val="1E40A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200" y="768096"/>
              <a:ext cx="5394960" cy="1561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PHASE 1: FOUNDATION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20040" y="1024128"/>
              <a:ext cx="5669280" cy="201168"/>
            </a:xfrm>
            <a:prstGeom prst="rect">
              <a:avLst/>
            </a:prstGeom>
            <a:solidFill>
              <a:srgbClr val="111827"/>
            </a:solidFill>
            <a:ln w="381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11479" y="1060704"/>
              <a:ext cx="5486400" cy="146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Sp'26 – Sp'27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20040" y="1243584"/>
              <a:ext cx="5669280" cy="146304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11479" y="1261872"/>
              <a:ext cx="5486400" cy="146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• Front-load core &amp; tech courses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20040" y="1399032"/>
              <a:ext cx="5669280" cy="146304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1479" y="1417320"/>
              <a:ext cx="5486400" cy="146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dirty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• Begin literature review (200+ papers)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20040" y="1554480"/>
              <a:ext cx="5669280" cy="146304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11479" y="1572768"/>
              <a:ext cx="5486400" cy="146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• Establish committee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20040" y="1709928"/>
              <a:ext cx="5669280" cy="146304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11479" y="1728216"/>
              <a:ext cx="5486400" cy="146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• Research problem identification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20040" y="1883664"/>
              <a:ext cx="5669280" cy="201168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93192" y="1901952"/>
              <a:ext cx="5522976" cy="146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✓ Research direction approved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217920" y="731520"/>
              <a:ext cx="5669280" cy="292608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55080" y="768096"/>
              <a:ext cx="5394960" cy="1561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PHASE 2: QUALIFICATION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217920" y="1024128"/>
              <a:ext cx="5669280" cy="201168"/>
            </a:xfrm>
            <a:prstGeom prst="rect">
              <a:avLst/>
            </a:prstGeom>
            <a:solidFill>
              <a:srgbClr val="111827"/>
            </a:solidFill>
            <a:ln w="381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309359" y="1060704"/>
              <a:ext cx="5486400" cy="146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Su'27 – Fa'27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217920" y="1243584"/>
              <a:ext cx="5669280" cy="146304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309359" y="1261872"/>
              <a:ext cx="5486400" cy="146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• Co-op internship (Jun-Aug)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217920" y="1399032"/>
              <a:ext cx="5669280" cy="146304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309359" y="1417320"/>
              <a:ext cx="5486400" cy="146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• Prelim exam preparation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17920" y="1554480"/>
              <a:ext cx="5669280" cy="146304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309359" y="1572768"/>
              <a:ext cx="5486400" cy="146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• Methodology development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217920" y="1709928"/>
              <a:ext cx="5669280" cy="146304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309359" y="1728216"/>
              <a:ext cx="5486400" cy="146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• Complete preliminary research outline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217920" y="1883664"/>
              <a:ext cx="5669280" cy="201168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291072" y="1901952"/>
              <a:ext cx="5522976" cy="146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★ PRELIM EXAM (Fa 27)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989E7BA-36D1-5F4B-7FE6-0D3356F9FA7B}"/>
              </a:ext>
            </a:extLst>
          </p:cNvPr>
          <p:cNvGrpSpPr/>
          <p:nvPr/>
        </p:nvGrpSpPr>
        <p:grpSpPr>
          <a:xfrm>
            <a:off x="320040" y="3450560"/>
            <a:ext cx="11567160" cy="2736321"/>
            <a:chOff x="320040" y="3450560"/>
            <a:chExt cx="11567160" cy="1353311"/>
          </a:xfrm>
        </p:grpSpPr>
        <p:sp>
          <p:nvSpPr>
            <p:cNvPr id="34" name="Rectangle 33"/>
            <p:cNvSpPr/>
            <p:nvPr/>
          </p:nvSpPr>
          <p:spPr>
            <a:xfrm>
              <a:off x="320040" y="3450560"/>
              <a:ext cx="5669280" cy="292608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57200" y="3487136"/>
              <a:ext cx="5394960" cy="1293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PHASE 3: PROPOSAL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0040" y="3743168"/>
              <a:ext cx="5669280" cy="201168"/>
            </a:xfrm>
            <a:prstGeom prst="rect">
              <a:avLst/>
            </a:prstGeom>
            <a:solidFill>
              <a:srgbClr val="111827"/>
            </a:solidFill>
            <a:ln w="381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11479" y="3779744"/>
              <a:ext cx="5486400" cy="12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Sp'28 – Fa'28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20040" y="3962624"/>
              <a:ext cx="5669280" cy="146304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11479" y="3980911"/>
              <a:ext cx="5486400" cy="12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• Write proposal (30-50 pages)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0040" y="4118072"/>
              <a:ext cx="5669280" cy="146304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11479" y="4136359"/>
              <a:ext cx="5486400" cy="12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• Finalize research design &amp; methods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20040" y="4273520"/>
              <a:ext cx="5669280" cy="146304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11479" y="4291807"/>
              <a:ext cx="5486400" cy="12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• Plan data collection strategy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20040" y="4428968"/>
              <a:ext cx="5669280" cy="146304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11479" y="4447255"/>
              <a:ext cx="5486400" cy="12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• Prepare proposal defense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20040" y="4602703"/>
              <a:ext cx="5669280" cy="201168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93192" y="4620992"/>
              <a:ext cx="5522976" cy="12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★ PROPOSAL DEFENSE (Fa 28)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217920" y="3450560"/>
              <a:ext cx="5669280" cy="292608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355080" y="3487136"/>
              <a:ext cx="5394960" cy="1293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PHASE 4: COMPLETION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217920" y="3743168"/>
              <a:ext cx="5669280" cy="201168"/>
            </a:xfrm>
            <a:prstGeom prst="rect">
              <a:avLst/>
            </a:prstGeom>
            <a:solidFill>
              <a:srgbClr val="111827"/>
            </a:solidFill>
            <a:ln w="381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309359" y="3779744"/>
              <a:ext cx="5486400" cy="12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Sp'29 – Fa'29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217920" y="3962624"/>
              <a:ext cx="5669280" cy="146304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309359" y="3980911"/>
              <a:ext cx="5486400" cy="12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• Intensive data collection &amp; analysis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217920" y="4118072"/>
              <a:ext cx="5669280" cy="146304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309359" y="4136359"/>
              <a:ext cx="5486400" cy="12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• Write Ch 1-4 (Intro, Lit, Methods, Results)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217920" y="4273520"/>
              <a:ext cx="5669280" cy="146304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309359" y="4291807"/>
              <a:ext cx="5486400" cy="12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• Dissertation composition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217920" y="4428968"/>
              <a:ext cx="5669280" cy="146304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309359" y="4447255"/>
              <a:ext cx="5486400" cy="12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• Final defense &amp; graduation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6217920" y="4602703"/>
              <a:ext cx="5669280" cy="201168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291072" y="4620992"/>
              <a:ext cx="5522976" cy="12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★ FINAL DEFENSE (Fa 29)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MILESTONES: REQUIREMENTS &amp; RATIONALE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12D5076-DE3E-6465-0E0B-93A1336EE090}"/>
              </a:ext>
            </a:extLst>
          </p:cNvPr>
          <p:cNvGrpSpPr/>
          <p:nvPr/>
        </p:nvGrpSpPr>
        <p:grpSpPr>
          <a:xfrm>
            <a:off x="274320" y="548640"/>
            <a:ext cx="11612880" cy="5717936"/>
            <a:chOff x="274320" y="548640"/>
            <a:chExt cx="11612880" cy="4038086"/>
          </a:xfrm>
        </p:grpSpPr>
        <p:sp>
          <p:nvSpPr>
            <p:cNvPr id="5" name="Rectangle 4"/>
            <p:cNvSpPr/>
            <p:nvPr/>
          </p:nvSpPr>
          <p:spPr>
            <a:xfrm>
              <a:off x="274320" y="548640"/>
              <a:ext cx="11612880" cy="256032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11480" y="585216"/>
              <a:ext cx="11338560" cy="2173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PRELIMINARY EXAM (Fall 2027)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" y="822959"/>
              <a:ext cx="1828800" cy="164592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65760" y="841247"/>
              <a:ext cx="164592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Requirement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148840" y="822959"/>
              <a:ext cx="9738360" cy="164592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40280" y="841247"/>
              <a:ext cx="955548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Written comprehensive exam + Oral defense + Committee approval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74320" y="996695"/>
              <a:ext cx="1828800" cy="164592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65760" y="1014983"/>
              <a:ext cx="164592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Deliverables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148840" y="996695"/>
              <a:ext cx="9738360" cy="164592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40280" y="1014983"/>
              <a:ext cx="955548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Pass both written + oral exams | Submit approved outline | Committee signs candidacy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4320" y="1170431"/>
              <a:ext cx="1828800" cy="164592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65760" y="1188719"/>
              <a:ext cx="164592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Timeline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148840" y="1170431"/>
              <a:ext cx="9738360" cy="164592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240280" y="1188719"/>
              <a:ext cx="955548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End of Year 2 (Semester 5) — Standard PhD progression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74320" y="1344167"/>
              <a:ext cx="1828800" cy="164592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65760" y="1362455"/>
              <a:ext cx="164592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Intensity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148840" y="1344167"/>
              <a:ext cx="9738360" cy="164592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240280" y="1362455"/>
              <a:ext cx="955548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20+ hours/week — Focused on exam prep &amp; research design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74320" y="1563623"/>
              <a:ext cx="11612880" cy="256032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1480" y="1600199"/>
              <a:ext cx="11338560" cy="2173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PROPOSAL DEFENSE (Fall 2028)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74320" y="1837943"/>
              <a:ext cx="1828800" cy="164592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65760" y="1856231"/>
              <a:ext cx="164592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Requirement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148840" y="1837943"/>
              <a:ext cx="9738360" cy="164592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240280" y="1856231"/>
              <a:ext cx="955548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Defend 30-50 page proposal with full committee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4320" y="2011679"/>
              <a:ext cx="1828800" cy="164592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65760" y="2029967"/>
              <a:ext cx="164592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Deliverables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48840" y="2011679"/>
              <a:ext cx="9738360" cy="164592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240280" y="2029967"/>
              <a:ext cx="955548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Present &amp; defend proposal | Submit approved document | Committee approves method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74320" y="2185415"/>
              <a:ext cx="1828800" cy="164592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65760" y="2203703"/>
              <a:ext cx="164592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Timeline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48840" y="2185415"/>
              <a:ext cx="9738360" cy="164592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240280" y="2203703"/>
              <a:ext cx="955548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12 months after Prelim — Allows methodology development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74320" y="2359151"/>
              <a:ext cx="1828800" cy="164592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65760" y="2377439"/>
              <a:ext cx="164592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Intensity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148840" y="2359151"/>
              <a:ext cx="9738360" cy="164592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240280" y="2377439"/>
              <a:ext cx="955548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18-20+ hours/week — Proposal writing + preliminary data collection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74320" y="2578607"/>
              <a:ext cx="11612880" cy="256032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11480" y="2615183"/>
              <a:ext cx="11338560" cy="2173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DATA COLLECTION &amp; ANALYSIS (Sp-Su 2029)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74320" y="2852927"/>
              <a:ext cx="1828800" cy="164592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65760" y="2871215"/>
              <a:ext cx="164592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Requirement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148840" y="2852927"/>
              <a:ext cx="9738360" cy="164592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40280" y="2871215"/>
              <a:ext cx="955548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Acquire, validate, and analyze dissertation dataset(s)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74320" y="3026663"/>
              <a:ext cx="1828800" cy="164592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65760" y="3044951"/>
              <a:ext cx="164592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Deliverables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148840" y="3026663"/>
              <a:ext cx="9738360" cy="164592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240280" y="3044951"/>
              <a:ext cx="955548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Complete ≥1 validated dataset | Preprocessing pipeline documented | Results generated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74320" y="3200399"/>
              <a:ext cx="1828800" cy="164592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5760" y="3218687"/>
              <a:ext cx="164592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Timeline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148840" y="3200399"/>
              <a:ext cx="9738360" cy="164592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240280" y="3218687"/>
              <a:ext cx="955548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Semesters 9-10 — Peak research phase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274320" y="3374135"/>
              <a:ext cx="1828800" cy="164592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65760" y="3392423"/>
              <a:ext cx="164592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Intensity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2148840" y="3374135"/>
              <a:ext cx="9738360" cy="164592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240280" y="3392423"/>
              <a:ext cx="955548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25+ hours/week (peak) — Full-time research focus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274320" y="3593591"/>
              <a:ext cx="11612880" cy="256032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11480" y="3630167"/>
              <a:ext cx="11338560" cy="2173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FINAL DEFENSE (Fall 2029)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74320" y="3867911"/>
              <a:ext cx="1828800" cy="164592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65760" y="3886199"/>
              <a:ext cx="164592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Requirement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148840" y="3867911"/>
              <a:ext cx="9738360" cy="164592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240280" y="3886199"/>
              <a:ext cx="955548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Oral defense &amp; approval of completed dissertation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274320" y="4041647"/>
              <a:ext cx="1828800" cy="164592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65760" y="4059935"/>
              <a:ext cx="164592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Deliverables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148840" y="4041647"/>
              <a:ext cx="9738360" cy="164592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240280" y="4059935"/>
              <a:ext cx="955548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Final dissertation approved by committee | Pass oral defense | ETD submission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74320" y="4215383"/>
              <a:ext cx="1828800" cy="164592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65760" y="4233671"/>
              <a:ext cx="164592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Timeline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148840" y="4215383"/>
              <a:ext cx="9738360" cy="164592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240280" y="4233671"/>
              <a:ext cx="955548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End of Year 4 (Semester 11) — 4-year completion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74320" y="4389120"/>
              <a:ext cx="1828800" cy="164592"/>
            </a:xfrm>
            <a:prstGeom prst="rect">
              <a:avLst/>
            </a:prstGeom>
            <a:solidFill>
              <a:srgbClr val="0F172A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65760" y="4407407"/>
              <a:ext cx="164592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3B82F6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Intensity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2148840" y="4389120"/>
              <a:ext cx="9738360" cy="164592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240280" y="4407407"/>
              <a:ext cx="9555480" cy="179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>
                  <a:solidFill>
                    <a:srgbClr val="94A3B8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25+ hours/week — Final writing, revisions, defense prep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Trebuchet MS"/>
              </a:rPr>
              <a:t>COURSE INVENTORY &amp; CREDIT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5577840" cy="2148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2608" y="644652"/>
            <a:ext cx="5486400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TRANSFER — GSU MS (21 cr)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36676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850392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CIS 8005   Data Programming (3cr)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24128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037844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CIS 8398   Advanced AI for Business (3cr)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211580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225296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CIS 8695   Big Data Analytics (3cr)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399032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412748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CIS 8795   Big Data Infrastructure (3cr)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586484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1600200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CIS 8080   IS Security &amp; Privacy (3cr)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773936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1787652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CIS 8045   Unstructured Data Management (3cr)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1961388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1975104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CIS 8690   Topics in Information Systems (3cr)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194560"/>
            <a:ext cx="5577840" cy="2148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2608" y="2217420"/>
            <a:ext cx="5486400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SPRING 2026 — Current (10cr)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409444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2423160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STAT 52000  Time Series &amp; Applications (3cr)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596896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2610612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CS 59300    Computer Vision (3cr)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2784348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2798064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ECE 59500   Selected Topics in ECE (3cr)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971800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2985516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TECH 60300  Grad Seminar – Planning (1cr)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204972"/>
            <a:ext cx="5577840" cy="2148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2608" y="3227832"/>
            <a:ext cx="5486400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FALL 2026 (10cr)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419856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" y="3433572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MET 52700   Technology: Global Perspective (3cr)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607308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3621024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STAT 50100  Experimental Statistics I (3cr)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794760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3808476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TECH 60100  Research Seminar in Technology (1cr)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3982212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" y="3995928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TECH 64600  Analysis of Research in Industry (3cr)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4215384"/>
            <a:ext cx="5577840" cy="2148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2608" y="4238244"/>
            <a:ext cx="5486400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SPRING 2027 (9cr)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4430268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4443984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TECH 67600  Analysis of Research Methods (3cr)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4617720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040" y="4631436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CS 57800    Statistical Machine Learning (3cr)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4805172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040" y="4818888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CS 52000    Computational Optimization (3cr)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5038344"/>
            <a:ext cx="5577840" cy="214884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2608" y="5061204"/>
            <a:ext cx="5486400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SUMMER 2027 — CO-OP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5253228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20040" y="5266944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Industry Internship (3 months)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5486400"/>
            <a:ext cx="5577840" cy="2148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92608" y="5509260"/>
            <a:ext cx="5486400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FALL 2027 — ★ Prelim Exam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5701284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0040" y="5715000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STAT 52400  Applied Multivariate Analysis (3cr)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5888736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20040" y="5902452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GRAD 68900  CSE Seminar (0cr)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621792"/>
            <a:ext cx="5577840" cy="2148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36208" y="644652"/>
            <a:ext cx="5486400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SPRING 2028 — Proposal Writing (3cr)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836676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63640" y="850392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STAT 51400  Design of Experiments (3cr)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1024128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63640" y="1037844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GRAD 68900  CSE Seminar (0cr)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72200" y="1257300"/>
            <a:ext cx="5577840" cy="214884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36208" y="1280160"/>
            <a:ext cx="5486400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SUMMER 2028 — Proposal Dev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72200" y="1472184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63640" y="1485900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TECH 69900  Dissertation (proposal draft)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72200" y="1705356"/>
            <a:ext cx="5577840" cy="214884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36208" y="1728216"/>
            <a:ext cx="5486400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FALL 2028 — ★ Proposal Defense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72200" y="1920240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263640" y="1933956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ECE 57000   Artificial Intelligence (3cr)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72200" y="2107692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63640" y="2121408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GRAD 68900  CSE Seminar (0cr)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72200" y="2340864"/>
            <a:ext cx="5577840" cy="214884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236208" y="2363724"/>
            <a:ext cx="5486400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SPRING 2029 — Data Collection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72200" y="2555748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63640" y="2569464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CS 58000    Algorithm Design &amp; Analysis (3cr)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72200" y="2743200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63640" y="2756916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GRAD 68900  CSE Seminar (0cr)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72200" y="2976372"/>
            <a:ext cx="5577840" cy="214884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236208" y="2999232"/>
            <a:ext cx="5486400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SUMMER 2029 — Analysis &amp; Writing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72200" y="3191256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263640" y="3204972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TECH 69900  Dissertation (analysis phase)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72200" y="3424428"/>
            <a:ext cx="5577840" cy="2148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236208" y="3447288"/>
            <a:ext cx="5486400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Calibri"/>
              </a:rPr>
              <a:t>FALL 2029 — ★ FINAL DEFENSE 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72200" y="3639312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263640" y="3653028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TECH 69900  Dissertation Defense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72200" y="3826763"/>
            <a:ext cx="5577840" cy="187452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263640" y="3840479"/>
            <a:ext cx="5440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4A3B8"/>
                </a:solidFill>
                <a:latin typeface="Calibri"/>
              </a:rPr>
              <a:t>Graduation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" y="6236208"/>
            <a:ext cx="1170432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65760" y="629107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Calibri"/>
              </a:rPr>
              <a:t>CREDIT SUMMARY:  Transfer GSU 21cr  +  Purdue Coursework 41cr  +  Dissertation 41cr  =  103cr Listed  |  Graduation: Fall 2029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rebuchet MS"/>
              </a:rPr>
              <a:t>PROFESSIONAL DEVELOPMENT &amp; IDP GOALS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0FC0522-2A11-F820-C115-BE5E0252389A}"/>
              </a:ext>
            </a:extLst>
          </p:cNvPr>
          <p:cNvGrpSpPr/>
          <p:nvPr/>
        </p:nvGrpSpPr>
        <p:grpSpPr>
          <a:xfrm>
            <a:off x="274320" y="548640"/>
            <a:ext cx="11612880" cy="1773124"/>
            <a:chOff x="274320" y="548640"/>
            <a:chExt cx="11612880" cy="1105397"/>
          </a:xfrm>
        </p:grpSpPr>
        <p:sp>
          <p:nvSpPr>
            <p:cNvPr id="5" name="Rectangle 4"/>
            <p:cNvSpPr/>
            <p:nvPr/>
          </p:nvSpPr>
          <p:spPr>
            <a:xfrm>
              <a:off x="274320" y="548640"/>
              <a:ext cx="11612880" cy="228600"/>
            </a:xfrm>
            <a:prstGeom prst="rect">
              <a:avLst/>
            </a:prstGeom>
            <a:solidFill>
              <a:srgbClr val="1E40A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11480" y="576072"/>
              <a:ext cx="11338560" cy="1726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Calibri"/>
                </a:rPr>
                <a:t>GOAL 1: ACADEMIC PUBLICATIONS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" y="804672"/>
              <a:ext cx="11612880" cy="109728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11480" y="813816"/>
              <a:ext cx="11475720" cy="1534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dirty="0">
                  <a:solidFill>
                    <a:srgbClr val="94A3B8"/>
                  </a:solidFill>
                  <a:latin typeface="Calibri"/>
                </a:rPr>
                <a:t>Timeline: Phase 1-4 publications integrated into research phases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1480" y="1033272"/>
              <a:ext cx="11475720" cy="1534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dirty="0">
                  <a:solidFill>
                    <a:srgbClr val="94A3B8"/>
                  </a:solidFill>
                  <a:latin typeface="Calibri"/>
                </a:rPr>
                <a:t>Target: 5+ journal articles + 5+ conference papers by graduation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11480" y="1261871"/>
              <a:ext cx="11475720" cy="1534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dirty="0">
                  <a:solidFill>
                    <a:srgbClr val="94A3B8"/>
                  </a:solidFill>
                  <a:latin typeface="Calibri"/>
                </a:rPr>
                <a:t>Plan: Phase 1 (1 paper) → Phase 2 (1-2) → Phase 3 (2-3) → Phase 4 (1-2 final)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4320" y="1522014"/>
              <a:ext cx="11612880" cy="109728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1480" y="1500538"/>
              <a:ext cx="11475720" cy="1534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dirty="0">
                  <a:solidFill>
                    <a:srgbClr val="94A3B8"/>
                  </a:solidFill>
                  <a:latin typeface="Calibri"/>
                </a:rPr>
                <a:t>Status: ✓ On track (publications embedded in Gantt)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85A59EE-BF86-791C-08C4-021BF2E10BF5}"/>
              </a:ext>
            </a:extLst>
          </p:cNvPr>
          <p:cNvGrpSpPr/>
          <p:nvPr/>
        </p:nvGrpSpPr>
        <p:grpSpPr>
          <a:xfrm>
            <a:off x="411480" y="2560317"/>
            <a:ext cx="11612880" cy="1696824"/>
            <a:chOff x="411480" y="2560319"/>
            <a:chExt cx="11612880" cy="1374446"/>
          </a:xfrm>
        </p:grpSpPr>
        <p:sp>
          <p:nvSpPr>
            <p:cNvPr id="15" name="Rectangle 14"/>
            <p:cNvSpPr/>
            <p:nvPr/>
          </p:nvSpPr>
          <p:spPr>
            <a:xfrm>
              <a:off x="411480" y="2560319"/>
              <a:ext cx="11612880" cy="2286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48640" y="2587751"/>
              <a:ext cx="11338560" cy="2243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Calibri"/>
                </a:rPr>
                <a:t>GOAL 2: TECHNICAL MASTERY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11480" y="2816351"/>
              <a:ext cx="11612880" cy="109728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48640" y="2825495"/>
              <a:ext cx="11475720" cy="1994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libri"/>
                </a:rPr>
                <a:t>Deep Learning: CS 59300 (Vision), CS 57800 (ML), ECE 57000 (AI)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8640" y="3038092"/>
              <a:ext cx="11475720" cy="1994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libri"/>
                </a:rPr>
                <a:t>Time Series: STAT 52000, STAT 52400, STAT 51400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48640" y="3247382"/>
              <a:ext cx="11475720" cy="1994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libri"/>
                </a:rPr>
                <a:t>Optimization: CS 52000, CS 58000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48640" y="3483335"/>
              <a:ext cx="11475720" cy="1994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libri"/>
                </a:rPr>
                <a:t>Target: 300 LeetCode problems + Cloud cert by Summer 2027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8640" y="3735323"/>
              <a:ext cx="11475720" cy="1994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dirty="0">
                  <a:solidFill>
                    <a:srgbClr val="94A3B8"/>
                  </a:solidFill>
                  <a:latin typeface="Calibri"/>
                </a:rPr>
                <a:t>Status: ✓ Courses front-loaded; co-op summer for coding sprint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A181B2D-25EB-128F-B4DA-ED8ECAB7856E}"/>
              </a:ext>
            </a:extLst>
          </p:cNvPr>
          <p:cNvGrpSpPr/>
          <p:nvPr/>
        </p:nvGrpSpPr>
        <p:grpSpPr>
          <a:xfrm>
            <a:off x="411480" y="4572000"/>
            <a:ext cx="11612880" cy="1925881"/>
            <a:chOff x="411480" y="4571998"/>
            <a:chExt cx="11612880" cy="1298841"/>
          </a:xfrm>
        </p:grpSpPr>
        <p:sp>
          <p:nvSpPr>
            <p:cNvPr id="27" name="Rectangle 26"/>
            <p:cNvSpPr/>
            <p:nvPr/>
          </p:nvSpPr>
          <p:spPr>
            <a:xfrm>
              <a:off x="411480" y="4571998"/>
              <a:ext cx="11612880" cy="22860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48640" y="4599430"/>
              <a:ext cx="11338560" cy="1868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Calibri"/>
                </a:rPr>
                <a:t>GOAL 3: INDUSTRY EXPERIENCE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11480" y="4828030"/>
              <a:ext cx="11612880" cy="109728"/>
            </a:xfrm>
            <a:prstGeom prst="rect">
              <a:avLst/>
            </a:prstGeom>
            <a:solidFill>
              <a:srgbClr val="111827"/>
            </a:solidFill>
            <a:ln w="2540">
              <a:solidFill>
                <a:srgbClr val="1E293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48640" y="4837174"/>
              <a:ext cx="11475720" cy="166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libri"/>
                </a:rPr>
                <a:t>Co-op Internship: Summer 2027 (3 months, Jun-Aug)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48640" y="5075108"/>
              <a:ext cx="11475720" cy="166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libri"/>
                </a:rPr>
                <a:t>Placement: Strategic gap between foundation &amp; prelim phases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48640" y="5287043"/>
              <a:ext cx="11475720" cy="166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94A3B8"/>
                  </a:solidFill>
                  <a:latin typeface="Calibri"/>
                </a:rPr>
                <a:t>Focus: Industry tech skills (cloud ML, DevOps, data engineering)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48640" y="5506499"/>
              <a:ext cx="11475720" cy="166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dirty="0">
                  <a:solidFill>
                    <a:srgbClr val="94A3B8"/>
                  </a:solidFill>
                  <a:latin typeface="Calibri"/>
                </a:rPr>
                <a:t>Future: Internship opportunities in Year 3-4 as time permits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48640" y="5704784"/>
              <a:ext cx="11475720" cy="166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dirty="0">
                  <a:solidFill>
                    <a:srgbClr val="94A3B8"/>
                  </a:solidFill>
                  <a:latin typeface="Calibri"/>
                </a:rPr>
                <a:t>Status: ✓ Scheduled; aligns with post-co-op CSE courses (Fa27 onward)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1190</Words>
  <Application>Microsoft Office PowerPoint</Application>
  <PresentationFormat>Custom</PresentationFormat>
  <Paragraphs>197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Md Kamruzzaman Kamrul</cp:lastModifiedBy>
  <cp:revision>2</cp:revision>
  <dcterms:created xsi:type="dcterms:W3CDTF">2013-01-27T09:14:16Z</dcterms:created>
  <dcterms:modified xsi:type="dcterms:W3CDTF">2026-04-16T23:50:06Z</dcterms:modified>
  <cp:category/>
</cp:coreProperties>
</file>
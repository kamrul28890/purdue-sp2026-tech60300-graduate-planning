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320040" cy="6793992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Trebuchet MS"/>
              </a:rPr>
              <a:t>MY GRADUATE PROGRAM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6771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PhD in Technology  ·  Purdue Polytechnic Institute  ·  Spring 2026 – Fall 2029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61488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Md Kamruzzaman Kamrul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Bowen School of Construction Management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Advisor: Dr. Heung Jin Oh  ·  Wii Lab  ·  CSE Concentration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60520"/>
            <a:ext cx="201168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24528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3B82F6"/>
                </a:solidFill>
                <a:latin typeface="Trebuchet MS"/>
              </a:rPr>
              <a:t>103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91456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TOTAL CREDITS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4160520"/>
            <a:ext cx="201168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4224528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3B82F6"/>
                </a:solidFill>
                <a:latin typeface="Trebuchet MS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4791456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TRANSFER (GSU)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74336" y="4160520"/>
            <a:ext cx="201168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4224528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3B82F6"/>
                </a:solidFill>
                <a:latin typeface="Trebuchet MS"/>
              </a:rPr>
              <a:t>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336" y="4791456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PURDUE COURSEWORK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87183" y="4160520"/>
            <a:ext cx="201168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7183" y="4224528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3B82F6"/>
                </a:solidFill>
                <a:latin typeface="Trebuchet MS"/>
              </a:rPr>
              <a:t>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3" y="4791456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DISSERTATION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00032" y="4160520"/>
            <a:ext cx="201168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2" y="4224528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3B82F6"/>
                </a:solidFill>
                <a:latin typeface="Trebuchet MS"/>
              </a:rPr>
              <a:t>4 YRS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4791456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DURATION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33872"/>
            <a:ext cx="201168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79729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Transfer (GSU)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61488" y="5833872"/>
            <a:ext cx="201168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579729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Current (Sp 2026)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74336" y="5833872"/>
            <a:ext cx="20116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30368" y="579729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Planned Courses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87183" y="5833872"/>
            <a:ext cx="201168" cy="201168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43215" y="579729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Dissertation Research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00032" y="5833872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56063" y="579729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Milestone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rebuchet MS"/>
              </a:rPr>
              <a:t>MY GRADUATE PROGRAM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0058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Kamruzzaman Kamrul  ·  PhD Technology  ·  Purdue  ·  Spring 2026 – Fall 2029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996696"/>
            <a:ext cx="786384" cy="3610965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996696"/>
            <a:ext cx="786384" cy="3610965"/>
          </a:xfrm>
          <a:prstGeom prst="rect">
            <a:avLst/>
          </a:prstGeom>
          <a:solidFill>
            <a:srgbClr val="0B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60903" y="731520"/>
            <a:ext cx="768096" cy="21945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740664"/>
            <a:ext cx="78638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Sp'26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8144" y="996696"/>
            <a:ext cx="786384" cy="3610965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7" y="731520"/>
            <a:ext cx="768096" cy="219456"/>
          </a:xfrm>
          <a:prstGeom prst="rect">
            <a:avLst/>
          </a:prstGeom>
          <a:solidFill>
            <a:srgbClr val="1C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740664"/>
            <a:ext cx="78638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94A3B8"/>
                </a:solidFill>
                <a:latin typeface="Calibri"/>
              </a:rPr>
              <a:t>Su'26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996696"/>
            <a:ext cx="786384" cy="3610965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731520"/>
            <a:ext cx="768096" cy="2194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740664"/>
            <a:ext cx="78638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94A3B8"/>
                </a:solidFill>
                <a:latin typeface="Calibri"/>
              </a:rPr>
              <a:t>Fa'26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0912" y="996696"/>
            <a:ext cx="786384" cy="3610965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0056" y="731520"/>
            <a:ext cx="768096" cy="2194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740664"/>
            <a:ext cx="78638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94A3B8"/>
                </a:solidFill>
                <a:latin typeface="Calibri"/>
              </a:rPr>
              <a:t>Sp'27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7296" y="996696"/>
            <a:ext cx="786384" cy="3610965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06440" y="731520"/>
            <a:ext cx="768096" cy="219456"/>
          </a:xfrm>
          <a:prstGeom prst="rect">
            <a:avLst/>
          </a:prstGeom>
          <a:solidFill>
            <a:srgbClr val="1C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97296" y="740664"/>
            <a:ext cx="78638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94A3B8"/>
                </a:solidFill>
                <a:latin typeface="Calibri"/>
              </a:rPr>
              <a:t>Su'27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79" y="996696"/>
            <a:ext cx="786384" cy="3610965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92823" y="731520"/>
            <a:ext cx="768096" cy="2194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79" y="740664"/>
            <a:ext cx="78638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94A3B8"/>
                </a:solidFill>
                <a:latin typeface="Calibri"/>
              </a:rPr>
              <a:t>Fa'27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70064" y="996696"/>
            <a:ext cx="786384" cy="3610965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79208" y="731520"/>
            <a:ext cx="768096" cy="2194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0064" y="740664"/>
            <a:ext cx="78638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94A3B8"/>
                </a:solidFill>
                <a:latin typeface="Calibri"/>
              </a:rPr>
              <a:t>Sp'28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6448" y="996696"/>
            <a:ext cx="786384" cy="3610965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65592" y="731520"/>
            <a:ext cx="768096" cy="219456"/>
          </a:xfrm>
          <a:prstGeom prst="rect">
            <a:avLst/>
          </a:prstGeom>
          <a:solidFill>
            <a:srgbClr val="1C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8" y="740664"/>
            <a:ext cx="78638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94A3B8"/>
                </a:solidFill>
                <a:latin typeface="Calibri"/>
              </a:rPr>
              <a:t>Su'28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42832" y="996696"/>
            <a:ext cx="786384" cy="3610965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51976" y="731520"/>
            <a:ext cx="768096" cy="2194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42832" y="740664"/>
            <a:ext cx="78638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94A3B8"/>
                </a:solidFill>
                <a:latin typeface="Calibri"/>
              </a:rPr>
              <a:t>Fa'28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29216" y="996696"/>
            <a:ext cx="786384" cy="3610965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38360" y="731520"/>
            <a:ext cx="768096" cy="2194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9216" y="740664"/>
            <a:ext cx="78638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94A3B8"/>
                </a:solidFill>
                <a:latin typeface="Calibri"/>
              </a:rPr>
              <a:t>Sp'29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0" y="996696"/>
            <a:ext cx="786384" cy="3610965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524744" y="731520"/>
            <a:ext cx="768096" cy="219456"/>
          </a:xfrm>
          <a:prstGeom prst="rect">
            <a:avLst/>
          </a:prstGeom>
          <a:solidFill>
            <a:srgbClr val="1C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0" y="740664"/>
            <a:ext cx="78638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94A3B8"/>
                </a:solidFill>
                <a:latin typeface="Calibri"/>
              </a:rPr>
              <a:t>Su'29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301984" y="996696"/>
            <a:ext cx="786384" cy="3610965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311128" y="731520"/>
            <a:ext cx="768096" cy="2194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301984" y="740664"/>
            <a:ext cx="78638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94A3B8"/>
                </a:solidFill>
                <a:latin typeface="Calibri"/>
              </a:rPr>
              <a:t>Fa'29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996696"/>
            <a:ext cx="54864" cy="1783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" y="996696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" y="985265"/>
            <a:ext cx="2487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>
                <a:solidFill>
                  <a:srgbClr val="64748B"/>
                </a:solidFill>
                <a:latin typeface="Calibri"/>
              </a:rPr>
              <a:t>TRANSFER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" y="996696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" y="1010412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GSU MS Transfer — 7 Courses (21 cr)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65476" y="1010412"/>
            <a:ext cx="758952" cy="1508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1232611"/>
            <a:ext cx="54864" cy="110642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" y="1232611"/>
            <a:ext cx="2560320" cy="110642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" y="1685239"/>
            <a:ext cx="2487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>
                <a:solidFill>
                  <a:srgbClr val="64748B"/>
                </a:solidFill>
                <a:latin typeface="Calibri"/>
              </a:rPr>
              <a:t>CORE REQUIRED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" y="1232611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728" y="1246327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TECH 60300  Grad Seminar Planning (1cr)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65476" y="1246327"/>
            <a:ext cx="758952" cy="1508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" y="1418234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" y="1431950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MET 52700  Technology: Global Perspective (3cr)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38244" y="1431950"/>
            <a:ext cx="758952" cy="1508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" y="1603857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728" y="1617573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STAT 50100  Experimental Statistics I (3cr)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38244" y="1617573"/>
            <a:ext cx="758952" cy="1508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864" y="1789480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9728" y="1803196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TECH 60100  Research Seminar (1cr)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38244" y="1803196"/>
            <a:ext cx="758952" cy="1508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864" y="1975104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728" y="1988820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TECH 64600  Analysis of Research in Industry (3cr)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38244" y="1988820"/>
            <a:ext cx="758952" cy="1508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864" y="2160727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728" y="2174443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TECH 67600  Analysis of Research Methods (3cr)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4628" y="2174443"/>
            <a:ext cx="758952" cy="1508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0" y="2396642"/>
            <a:ext cx="54864" cy="54955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4864" y="2396642"/>
            <a:ext cx="2560320" cy="549554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440" y="2570835"/>
            <a:ext cx="2487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>
                <a:solidFill>
                  <a:srgbClr val="64748B"/>
                </a:solidFill>
                <a:latin typeface="Calibri"/>
              </a:rPr>
              <a:t>TECH / DISCOVERY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" y="2396642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9728" y="2410358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STAT 52000  Time Series &amp; Applications (3cr)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665476" y="2410358"/>
            <a:ext cx="758952" cy="1508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4864" y="2582265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9728" y="2595981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STAT 52400  Applied Multivariate Analysis (3cr)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97395" y="2595981"/>
            <a:ext cx="758952" cy="1508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4864" y="2767888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9728" y="2781604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STAT 51400  Design of Experiments (3cr)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97395" y="2781604"/>
            <a:ext cx="758952" cy="1508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0" y="3003803"/>
            <a:ext cx="54864" cy="735177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864" y="3003803"/>
            <a:ext cx="2560320" cy="735177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440" y="3270808"/>
            <a:ext cx="2487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>
                <a:solidFill>
                  <a:srgbClr val="64748B"/>
                </a:solidFill>
                <a:latin typeface="Calibri"/>
              </a:rPr>
              <a:t>CSE CONCENTRATION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" y="3003803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9728" y="3017520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CS 57800  Statistical Machine Learning (3cr)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4628" y="3017520"/>
            <a:ext cx="758952" cy="1508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4864" y="3189427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9728" y="3203143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CS 52000  Computational Optimization (3cr)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4628" y="3203143"/>
            <a:ext cx="758952" cy="1508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864" y="3375050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9728" y="3388766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ECE 57000  Artificial Intelligence (3cr)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597395" y="3388766"/>
            <a:ext cx="758952" cy="1508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4864" y="3560673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9728" y="3574389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GRAD 68900  CSE Seminar 0cr (recurring)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56548" y="3574389"/>
            <a:ext cx="3118104" cy="150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0" y="3796588"/>
            <a:ext cx="54864" cy="54955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4864" y="3796588"/>
            <a:ext cx="2560320" cy="549554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1440" y="3970781"/>
            <a:ext cx="2487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>
                <a:solidFill>
                  <a:srgbClr val="64748B"/>
                </a:solidFill>
                <a:latin typeface="Calibri"/>
              </a:rPr>
              <a:t>COGNATE ELECTIVES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864" y="3796588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9728" y="3810304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CS 59300  Computer Vision (3cr)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665476" y="3810304"/>
            <a:ext cx="758952" cy="1508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4864" y="3982211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9728" y="3995927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ECE 59500  Selected Topics in ECE (3cr)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665476" y="3995927"/>
            <a:ext cx="758952" cy="1508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4864" y="4167835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9728" y="4181551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CS 58000  Algorithm Design &amp; Analysis (3cr)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383780" y="4181551"/>
            <a:ext cx="758952" cy="1508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0" y="4403750"/>
            <a:ext cx="54864" cy="178308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4864" y="4403750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1440" y="4392320"/>
            <a:ext cx="2487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>
                <a:solidFill>
                  <a:srgbClr val="64748B"/>
                </a:solidFill>
                <a:latin typeface="Calibri"/>
              </a:rPr>
              <a:t>DISSERTATION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4864" y="4403750"/>
            <a:ext cx="2560320" cy="17830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9728" y="4417466"/>
            <a:ext cx="2487168" cy="15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0">
                <a:solidFill>
                  <a:srgbClr val="94A3B8"/>
                </a:solidFill>
                <a:latin typeface="Calibri"/>
              </a:rPr>
              <a:t>TECH 69900  Dissertation Research: Phases 1-6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238244" y="4417466"/>
            <a:ext cx="7836408" cy="150876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 rot="2700000">
            <a:off x="6885431" y="4655210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565391" y="485637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59E0B"/>
                </a:solidFill>
                <a:latin typeface="Calibri"/>
              </a:rPr>
              <a:t>Prelim
Exam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6976871" y="996696"/>
            <a:ext cx="0" cy="3667658"/>
          </a:xfrm>
          <a:prstGeom prst="line">
            <a:avLst/>
          </a:prstGeom>
          <a:ln w="9525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 rot="2700000">
            <a:off x="9244584" y="4655210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924544" y="485637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59E0B"/>
                </a:solidFill>
                <a:latin typeface="Calibri"/>
              </a:rPr>
              <a:t>Proposal
Defense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9336024" y="996696"/>
            <a:ext cx="0" cy="3667658"/>
          </a:xfrm>
          <a:prstGeom prst="line">
            <a:avLst/>
          </a:prstGeom>
          <a:ln w="9525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 rot="2700000">
            <a:off x="9244584" y="4655210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924544" y="485637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59E0B"/>
                </a:solidFill>
                <a:latin typeface="Calibri"/>
              </a:rPr>
              <a:t>Data
Collection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9336024" y="996696"/>
            <a:ext cx="0" cy="3667658"/>
          </a:xfrm>
          <a:prstGeom prst="line">
            <a:avLst/>
          </a:prstGeom>
          <a:ln w="9525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 rot="2700000">
            <a:off x="10817352" y="4655210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497312" y="485637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59E0B"/>
                </a:solidFill>
                <a:latin typeface="Calibri"/>
              </a:rPr>
              <a:t>Writing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10908792" y="996696"/>
            <a:ext cx="0" cy="3667658"/>
          </a:xfrm>
          <a:prstGeom prst="line">
            <a:avLst/>
          </a:prstGeom>
          <a:ln w="9525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 rot="2700000">
            <a:off x="11603736" y="4655210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283696" y="485637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59E0B"/>
                </a:solidFill>
                <a:latin typeface="Calibri"/>
              </a:rPr>
              <a:t>Final
Defense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1695176" y="996696"/>
            <a:ext cx="0" cy="3667658"/>
          </a:xfrm>
          <a:prstGeom prst="line">
            <a:avLst/>
          </a:prstGeom>
          <a:ln w="9525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274320" y="6510528"/>
            <a:ext cx="164592" cy="14630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93776" y="6473952"/>
            <a:ext cx="1920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Transfer Credits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606039" y="6510528"/>
            <a:ext cx="164592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825496" y="6473952"/>
            <a:ext cx="1920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Current (Sp'26)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937759" y="6510528"/>
            <a:ext cx="164592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157216" y="6473952"/>
            <a:ext cx="1920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Planned Courses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269479" y="6510528"/>
            <a:ext cx="164592" cy="146304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488936" y="6473952"/>
            <a:ext cx="1920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Dissertation Research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601200" y="6510528"/>
            <a:ext cx="164592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820656" y="6473952"/>
            <a:ext cx="1920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Milestone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Trebuchet MS"/>
              </a:rPr>
              <a:t>MILESTONE DELIVERABLES &amp;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043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"/>
            <a:ext cx="115214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FALL 2027 — PRELIMINARY EXAM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77824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86968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✓ Pass written comprehensive exam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31443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40587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✓ Pass oral defense with committee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185062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194206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✓ Approved prelim outline &amp; research 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338681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347825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⏱  Semester 5 | 2.5 years into PhD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492300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501444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📊 Research Intensity: 20+ hrs/week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682495"/>
            <a:ext cx="117043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714499"/>
            <a:ext cx="115214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FALL 2028 — PROPOSAL DEFENSE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1938528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947672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✓ Defended dissertation proposal (30-50 pages)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092147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101291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✓ Approved methodology &amp; research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245766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254910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✓ Approved data collection strategy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399385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408529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⏱  Semester 8 | 12 months after Prelim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2553004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562148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📊 Research Intensity: 20+ hrs/week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743200"/>
            <a:ext cx="117043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775204"/>
            <a:ext cx="115214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SPRING-SUMMER 2029 — DATA COLLECTION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2999232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008376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✓ ≥1 complete dataset acquired &amp; validated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152851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3161995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✓ Data preprocessing pipeline documented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306470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315614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✓ Preliminary empirical results generated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460089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469233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⏱  Semesters 9-10 | Post-proposal phase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3613708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622852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📊 Research Intensity: 25+ hrs/week (peak)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3803904"/>
            <a:ext cx="117043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835908"/>
            <a:ext cx="115214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SUMMER-FALL 2029 — WRITING &amp; DEFENSE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4059936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4069080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✓ Ch 1-3 draft: Intro, Literature, Methods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4213555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222699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✓ Ch 4 draft: Empirical Results &amp; Analysis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4367174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4376318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✓ Full dissertation completed &amp; approved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4520793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529937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✓ Final defense completed &amp; passed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4674412"/>
            <a:ext cx="11704320" cy="153619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4683556"/>
            <a:ext cx="11567160" cy="130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>
                <a:solidFill>
                  <a:srgbClr val="94A3B8"/>
                </a:solidFill>
                <a:latin typeface="Calibri"/>
              </a:rPr>
              <a:t>✓ ETD submitted, graduation approved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Trebuchet MS"/>
              </a:rPr>
              <a:t>COURSE INVENTORY &amp; CREDIT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5577840" cy="2148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644652"/>
            <a:ext cx="5486400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TRANSFER — GSU MS (21 cr)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36676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50392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CIS 8005   Data Programming (3cr)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24128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37844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CIS 8398   Advanced AI for Business (3cr)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211580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225296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CIS 8695   Big Data Analytics (3cr)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399032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412748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CIS 8795   Big Data Infrastructure (3cr)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586484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600200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CIS 8080   IS Security &amp; Privacy (3cr)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773936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787652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CIS 8045   Unstructured Data Management (3cr)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1961388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975104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CIS 8690   Topics in Information Systems (3cr)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194560"/>
            <a:ext cx="5577840" cy="2148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2217420"/>
            <a:ext cx="5486400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SPRING 2026 — Current (10cr)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409444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423160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STAT 52000  Time Series &amp; Applications (3cr)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596896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610612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CS 59300    Computer Vision (3cr)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2784348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798064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ECE 59500   Selected Topics in ECE (3cr)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971800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985516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TECH 60300  Grad Seminar – Planning (1cr)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204972"/>
            <a:ext cx="5577840" cy="2148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" y="3227832"/>
            <a:ext cx="5486400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FALL 2026 (10cr)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419856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3433572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MET 52700   Technology: Global Perspective (3cr)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607308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621024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STAT 50100  Experimental Statistics I (3cr)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794760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808476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TECH 60100  Research Seminar in Technology (1cr)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3982212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995928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TECH 64600  Analysis of Research in Industry (3cr)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4215384"/>
            <a:ext cx="5577840" cy="2148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" y="4238244"/>
            <a:ext cx="5486400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SPRING 2027 (9cr)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4430268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4443984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TECH 67600  Analysis of Research Methods (3cr)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4617720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631436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CS 57800    Statistical Machine Learning (3cr)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4805172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4818888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CS 52000    Computational Optimization (3cr)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5038344"/>
            <a:ext cx="5577840" cy="214884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2608" y="5061204"/>
            <a:ext cx="5486400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SUMMER 2027 — CO-OP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5253228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5266944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Industry Internship (3 months)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5486400"/>
            <a:ext cx="5577840" cy="2148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2608" y="5509260"/>
            <a:ext cx="5486400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FALL 2027 — ★ Prelim Exam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5701284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5715000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STAT 52400  Applied Multivariate Analysis (3cr)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5888736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5902452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GRAD 68900  CSE Seminar (0cr)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621792"/>
            <a:ext cx="5577840" cy="2148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36208" y="644652"/>
            <a:ext cx="5486400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SPRING 2028 — Proposal Writing (3cr)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836676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63640" y="850392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STAT 51400  Design of Experiments (3cr)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1024128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1037844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GRAD 68900  CSE Seminar (0cr)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72200" y="1257300"/>
            <a:ext cx="5577840" cy="214884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36208" y="1280160"/>
            <a:ext cx="5486400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SUMMER 2028 — Proposal Dev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72200" y="1472184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63640" y="1485900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TECH 69900  Dissertation (proposal draft)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72200" y="1705356"/>
            <a:ext cx="5577840" cy="214884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36208" y="1728216"/>
            <a:ext cx="5486400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FALL 2028 — ★ Proposal Defense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72200" y="1920240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63640" y="1933956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ECE 57000   Artificial Intelligence (3cr)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72200" y="2107692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3640" y="2121408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GRAD 68900  CSE Seminar (0cr)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72200" y="2340864"/>
            <a:ext cx="5577840" cy="214884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36208" y="2363724"/>
            <a:ext cx="5486400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SPRING 2029 — Data Collection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72200" y="2555748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63640" y="2569464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CS 58000    Algorithm Design &amp; Analysis (3cr)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72200" y="2743200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63640" y="2756916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GRAD 68900  CSE Seminar (0cr)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72200" y="2976372"/>
            <a:ext cx="5577840" cy="214884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36208" y="2999232"/>
            <a:ext cx="5486400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SUMMER 2029 — Analysis &amp; Writing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72200" y="3191256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63640" y="3204972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TECH 69900  Dissertation (analysis phase)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72200" y="3424428"/>
            <a:ext cx="5577840" cy="2148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36208" y="3447288"/>
            <a:ext cx="5486400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FALL 2029 — ★ FINAL DEFENSE 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72200" y="3639312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63640" y="3653028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TECH 69900  Dissertation Defense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72200" y="3826763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63640" y="3840479"/>
            <a:ext cx="5440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Graduation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" y="6236208"/>
            <a:ext cx="1170432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5760" y="6291072"/>
            <a:ext cx="11338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Calibri"/>
              </a:rPr>
              <a:t>CREDIT SUMMARY:  Transfer GSU 21cr  +  Purdue Coursework 41cr  +  Dissertation 41cr  =  103cr Listed  |  Graduation: Fall 2029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
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"/>
            <a:ext cx="320040" cy="6793992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50976"/>
            <a:ext cx="10424160" cy="65836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Trebuchet MS"/>
              </a:rPr>
              <a:t>MY GRADUATE PROGRAM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10515600" cy="329184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Version 4 - Handbook-aligned prelim dependencies - Spring 2026 to Fall 2029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6858000" cy="310896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Md Kamruzzaman Kamrul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87752"/>
            <a:ext cx="8686800" cy="27432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PhD in Technology - Purdue Polytechnic Institute - CSE Concentration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9504"/>
            <a:ext cx="9509760" cy="27432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alibri"/>
              </a:rPr>
              <a:t>Advisor: Dr. Heung Jin Oh - Wii Lab - Bowen School of Construction Management Technology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2011680" cy="107899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895344"/>
            <a:ext cx="2011680" cy="47548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2800" b="1">
                <a:solidFill>
                  <a:srgbClr val="3B82F6"/>
                </a:solidFill>
                <a:latin typeface="Trebuchet MS"/>
              </a:rPr>
              <a:t>103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25696"/>
            <a:ext cx="20116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60" b="0">
                <a:solidFill>
                  <a:srgbClr val="94A3B8"/>
                </a:solidFill>
                <a:latin typeface="Calibri"/>
              </a:rPr>
              <a:t>TOTAL CREDITS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8" y="3794760"/>
            <a:ext cx="2011680" cy="107899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3895344"/>
            <a:ext cx="2011680" cy="47548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2800" b="1">
                <a:solidFill>
                  <a:srgbClr val="3B82F6"/>
                </a:solidFill>
                <a:latin typeface="Trebuchet MS"/>
              </a:rP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4425696"/>
            <a:ext cx="20116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60" b="0">
                <a:solidFill>
                  <a:srgbClr val="94A3B8"/>
                </a:solidFill>
                <a:latin typeface="Calibri"/>
              </a:rPr>
              <a:t>TRANSFER (GSU)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74336" y="3794760"/>
            <a:ext cx="2011680" cy="107899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3895344"/>
            <a:ext cx="2011680" cy="47548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2800" b="1">
                <a:solidFill>
                  <a:srgbClr val="3B82F6"/>
                </a:solidFill>
                <a:latin typeface="Trebuchet MS"/>
              </a:rPr>
              <a:t>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4336" y="4425696"/>
            <a:ext cx="20116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60" b="0">
                <a:solidFill>
                  <a:srgbClr val="94A3B8"/>
                </a:solidFill>
                <a:latin typeface="Calibri"/>
              </a:rPr>
              <a:t>PURDUE COURSEWORK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87183" y="3794760"/>
            <a:ext cx="2011680" cy="107899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7183" y="3895344"/>
            <a:ext cx="2011680" cy="47548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2800" b="1">
                <a:solidFill>
                  <a:srgbClr val="3B82F6"/>
                </a:solidFill>
                <a:latin typeface="Trebuchet MS"/>
              </a:rPr>
              <a:t>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3" y="4425696"/>
            <a:ext cx="20116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60" b="0">
                <a:solidFill>
                  <a:srgbClr val="94A3B8"/>
                </a:solidFill>
                <a:latin typeface="Calibri"/>
              </a:rPr>
              <a:t>DISSERTATION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00032" y="3794760"/>
            <a:ext cx="2011680" cy="107899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32" y="3895344"/>
            <a:ext cx="2011680" cy="47548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2800" b="1">
                <a:solidFill>
                  <a:srgbClr val="3B82F6"/>
                </a:solidFill>
                <a:latin typeface="Trebuchet MS"/>
              </a:rPr>
              <a:t>4 YRS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4425696"/>
            <a:ext cx="20116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60" b="0">
                <a:solidFill>
                  <a:srgbClr val="94A3B8"/>
                </a:solidFill>
                <a:latin typeface="Calibri"/>
              </a:rPr>
              <a:t>TARGET DURATION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650992"/>
            <a:ext cx="201168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623560"/>
            <a:ext cx="1508760" cy="237744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919" b="0">
                <a:solidFill>
                  <a:srgbClr val="CBD5E1"/>
                </a:solidFill>
                <a:latin typeface="Calibri"/>
              </a:rPr>
              <a:t>Transfer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04872" y="5650992"/>
            <a:ext cx="201168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60904" y="5623560"/>
            <a:ext cx="1508760" cy="237744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919" b="0">
                <a:solidFill>
                  <a:srgbClr val="CBD5E1"/>
                </a:solidFill>
                <a:latin typeface="Calibri"/>
              </a:rPr>
              <a:t>Current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61103" y="5650992"/>
            <a:ext cx="201168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7136" y="5623560"/>
            <a:ext cx="1508760" cy="237744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919" b="0">
                <a:solidFill>
                  <a:srgbClr val="CBD5E1"/>
                </a:solidFill>
                <a:latin typeface="Calibri"/>
              </a:rPr>
              <a:t>Coursework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17336" y="5650992"/>
            <a:ext cx="201168" cy="2011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5623560"/>
            <a:ext cx="1508760" cy="237744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919" b="0">
                <a:solidFill>
                  <a:srgbClr val="CBD5E1"/>
                </a:solidFill>
                <a:latin typeface="Calibri"/>
              </a:rPr>
              <a:t>Admin/Prereq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73567" y="5650992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599" y="5623560"/>
            <a:ext cx="1508760" cy="237744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919" b="0">
                <a:solidFill>
                  <a:srgbClr val="CBD5E1"/>
                </a:solidFill>
                <a:latin typeface="Calibri"/>
              </a:rPr>
              <a:t>Prelim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9799" y="5650992"/>
            <a:ext cx="201168" cy="201168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85831" y="5623560"/>
            <a:ext cx="1508760" cy="237744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919" b="0">
                <a:solidFill>
                  <a:srgbClr val="CBD5E1"/>
                </a:solidFill>
                <a:latin typeface="Calibri"/>
              </a:rPr>
              <a:t>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29260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Trebuchet MS"/>
              </a:rPr>
              <a:t>VERSION 4 GANTT CHART: COURSEWORK, PRELIM DEPENDENCIES,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38912"/>
            <a:ext cx="11338560" cy="21031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80" b="0">
                <a:solidFill>
                  <a:srgbClr val="94A3B8"/>
                </a:solidFill>
                <a:latin typeface="Calibri"/>
              </a:rPr>
              <a:t>Handbook checkpoints added: approved POS, committee, reading list, written/oral prelim, Form 10, retake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1033272"/>
            <a:ext cx="749046" cy="3501237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3240" y="1033272"/>
            <a:ext cx="749046" cy="3501237"/>
          </a:xfrm>
          <a:prstGeom prst="rect">
            <a:avLst/>
          </a:prstGeom>
          <a:solidFill>
            <a:srgbClr val="0B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72384" y="749808"/>
            <a:ext cx="730758" cy="22859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763524"/>
            <a:ext cx="749046" cy="219456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Calibri"/>
              </a:rPr>
              <a:t>Sp'26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2286" y="1033272"/>
            <a:ext cx="749046" cy="3501237"/>
          </a:xfrm>
          <a:prstGeom prst="rect">
            <a:avLst/>
          </a:prstGeom>
          <a:solidFill>
            <a:srgbClr val="09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21430" y="749808"/>
            <a:ext cx="730758" cy="228599"/>
          </a:xfrm>
          <a:prstGeom prst="rect">
            <a:avLst/>
          </a:prstGeom>
          <a:solidFill>
            <a:srgbClr val="1C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2286" y="763524"/>
            <a:ext cx="749046" cy="219456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730" b="0">
                <a:solidFill>
                  <a:srgbClr val="CBD5E1"/>
                </a:solidFill>
                <a:latin typeface="Calibri"/>
              </a:rPr>
              <a:t>Su'26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61332" y="1033272"/>
            <a:ext cx="749046" cy="3501237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0476" y="749808"/>
            <a:ext cx="730758" cy="22859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1332" y="763524"/>
            <a:ext cx="749046" cy="219456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730" b="0">
                <a:solidFill>
                  <a:srgbClr val="CBD5E1"/>
                </a:solidFill>
                <a:latin typeface="Calibri"/>
              </a:rPr>
              <a:t>Fa'26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10378" y="1033272"/>
            <a:ext cx="749046" cy="3501237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19522" y="749808"/>
            <a:ext cx="730758" cy="22859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0378" y="763524"/>
            <a:ext cx="749046" cy="219456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730" b="0">
                <a:solidFill>
                  <a:srgbClr val="CBD5E1"/>
                </a:solidFill>
                <a:latin typeface="Calibri"/>
              </a:rPr>
              <a:t>Sp'27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59424" y="1033272"/>
            <a:ext cx="749046" cy="3501237"/>
          </a:xfrm>
          <a:prstGeom prst="rect">
            <a:avLst/>
          </a:prstGeom>
          <a:solidFill>
            <a:srgbClr val="09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68568" y="749808"/>
            <a:ext cx="730758" cy="228599"/>
          </a:xfrm>
          <a:prstGeom prst="rect">
            <a:avLst/>
          </a:prstGeom>
          <a:solidFill>
            <a:srgbClr val="1C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59424" y="763524"/>
            <a:ext cx="749046" cy="219456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730" b="0">
                <a:solidFill>
                  <a:srgbClr val="CBD5E1"/>
                </a:solidFill>
                <a:latin typeface="Calibri"/>
              </a:rPr>
              <a:t>Su'27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08470" y="1033272"/>
            <a:ext cx="749046" cy="3501237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17614" y="749808"/>
            <a:ext cx="730758" cy="22859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08470" y="763524"/>
            <a:ext cx="749046" cy="219456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730" b="0">
                <a:solidFill>
                  <a:srgbClr val="CBD5E1"/>
                </a:solidFill>
                <a:latin typeface="Calibri"/>
              </a:rPr>
              <a:t>Fa'27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57516" y="1033272"/>
            <a:ext cx="749046" cy="3501237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66660" y="749808"/>
            <a:ext cx="730758" cy="22859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57516" y="763524"/>
            <a:ext cx="749046" cy="219456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730" b="0">
                <a:solidFill>
                  <a:srgbClr val="CBD5E1"/>
                </a:solidFill>
                <a:latin typeface="Calibri"/>
              </a:rPr>
              <a:t>Sp'28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06562" y="1033272"/>
            <a:ext cx="749046" cy="3501237"/>
          </a:xfrm>
          <a:prstGeom prst="rect">
            <a:avLst/>
          </a:prstGeom>
          <a:solidFill>
            <a:srgbClr val="09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15706" y="749808"/>
            <a:ext cx="730758" cy="228599"/>
          </a:xfrm>
          <a:prstGeom prst="rect">
            <a:avLst/>
          </a:prstGeom>
          <a:solidFill>
            <a:srgbClr val="1C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6562" y="763524"/>
            <a:ext cx="749046" cy="219456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730" b="0">
                <a:solidFill>
                  <a:srgbClr val="CBD5E1"/>
                </a:solidFill>
                <a:latin typeface="Calibri"/>
              </a:rPr>
              <a:t>Su'28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5608" y="1033272"/>
            <a:ext cx="749046" cy="3501237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64752" y="749808"/>
            <a:ext cx="730758" cy="22859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5608" y="763524"/>
            <a:ext cx="749046" cy="219456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730" b="0">
                <a:solidFill>
                  <a:srgbClr val="CBD5E1"/>
                </a:solidFill>
                <a:latin typeface="Calibri"/>
              </a:rPr>
              <a:t>Fa'28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04654" y="1033272"/>
            <a:ext cx="749046" cy="3501237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13798" y="749808"/>
            <a:ext cx="730758" cy="22859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04654" y="763524"/>
            <a:ext cx="749046" cy="219456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730" b="0">
                <a:solidFill>
                  <a:srgbClr val="CBD5E1"/>
                </a:solidFill>
                <a:latin typeface="Calibri"/>
              </a:rPr>
              <a:t>Sp'29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53700" y="1033272"/>
            <a:ext cx="749046" cy="3501237"/>
          </a:xfrm>
          <a:prstGeom prst="rect">
            <a:avLst/>
          </a:prstGeom>
          <a:solidFill>
            <a:srgbClr val="09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562844" y="749808"/>
            <a:ext cx="730758" cy="228599"/>
          </a:xfrm>
          <a:prstGeom prst="rect">
            <a:avLst/>
          </a:prstGeom>
          <a:solidFill>
            <a:srgbClr val="1C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53700" y="763524"/>
            <a:ext cx="749046" cy="219456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730" b="0">
                <a:solidFill>
                  <a:srgbClr val="CBD5E1"/>
                </a:solidFill>
                <a:latin typeface="Calibri"/>
              </a:rPr>
              <a:t>Su'29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302746" y="1033272"/>
            <a:ext cx="749046" cy="3501237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311890" y="749808"/>
            <a:ext cx="730758" cy="22859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302746" y="763524"/>
            <a:ext cx="749046" cy="219456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730" b="0">
                <a:solidFill>
                  <a:srgbClr val="CBD5E1"/>
                </a:solidFill>
                <a:latin typeface="Calibri"/>
              </a:rPr>
              <a:t>Fa'29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1033272"/>
            <a:ext cx="438912" cy="162763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8912" y="1033272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" y="1060704"/>
            <a:ext cx="384048" cy="10789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Calibri"/>
              </a:rPr>
              <a:t>TRANSFER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" y="1033272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" y="1049731"/>
            <a:ext cx="2514600" cy="13533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535" b="0">
                <a:solidFill>
                  <a:srgbClr val="CBD5E1"/>
                </a:solidFill>
                <a:latin typeface="Calibri"/>
              </a:rPr>
              <a:t>GSU MS transfer credits - 7 courses / 21 cr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76041" y="1048816"/>
            <a:ext cx="723442" cy="131673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1253642"/>
            <a:ext cx="438912" cy="1026871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8912" y="1253642"/>
            <a:ext cx="2587752" cy="1026871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" y="1281074"/>
            <a:ext cx="384048" cy="972007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Calibri"/>
              </a:rPr>
              <a:t>COURSEWORK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8912" y="1253642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4632" y="1270101"/>
            <a:ext cx="2514600" cy="13533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535" b="0">
                <a:solidFill>
                  <a:srgbClr val="CBD5E1"/>
                </a:solidFill>
                <a:latin typeface="Calibri"/>
              </a:rPr>
              <a:t>Sp'26 current: TECH603(1), STAT520(3), CS593(3), ECE595(3)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76041" y="1269187"/>
            <a:ext cx="723442" cy="13167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8912" y="1426464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4632" y="1442923"/>
            <a:ext cx="2514600" cy="13533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535" b="0">
                <a:solidFill>
                  <a:srgbClr val="CBD5E1"/>
                </a:solidFill>
                <a:latin typeface="Calibri"/>
              </a:rPr>
              <a:t>Fa'26 core: MET527(3), STAT501(3), TECH601(1), TECH646(3)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4133" y="1442008"/>
            <a:ext cx="723442" cy="131673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8912" y="1599285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4632" y="1615744"/>
            <a:ext cx="2514600" cy="13533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535" b="0">
                <a:solidFill>
                  <a:srgbClr val="CBD5E1"/>
                </a:solidFill>
                <a:latin typeface="Calibri"/>
              </a:rPr>
              <a:t>Sp'27 methods/ML: TECH676(3), CS578(3), CS520(3)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23179" y="1614830"/>
            <a:ext cx="723442" cy="131673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8912" y="1772107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4632" y="1788566"/>
            <a:ext cx="2514600" cy="13533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535" b="0">
                <a:solidFill>
                  <a:srgbClr val="CBD5E1"/>
                </a:solidFill>
                <a:latin typeface="Calibri"/>
              </a:rPr>
              <a:t>Su'27 compressed electives: STAT514(3), CS580(3)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2225" y="1787652"/>
            <a:ext cx="723442" cy="131673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8912" y="1944928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4632" y="1961388"/>
            <a:ext cx="2514600" cy="13533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535" b="0">
                <a:solidFill>
                  <a:srgbClr val="CBD5E1"/>
                </a:solidFill>
                <a:latin typeface="Calibri"/>
              </a:rPr>
              <a:t>Fa'27 final prelim-semester courses: STAT524(3), ECE570(3)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21271" y="1960473"/>
            <a:ext cx="723442" cy="131673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38912" y="2117750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4632" y="2134209"/>
            <a:ext cx="2514600" cy="13533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535" b="0">
                <a:solidFill>
                  <a:srgbClr val="CBD5E1"/>
                </a:solidFill>
                <a:latin typeface="Calibri"/>
              </a:rPr>
              <a:t>GRAD689 CSE seminar - 0 cr recurring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21271" y="2133295"/>
            <a:ext cx="5217718" cy="131673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0" y="2338120"/>
            <a:ext cx="438912" cy="1026871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8912" y="2338120"/>
            <a:ext cx="2587752" cy="1026871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" y="2365552"/>
            <a:ext cx="384048" cy="972007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Calibri"/>
              </a:rPr>
              <a:t>PRELIM
DEPS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8912" y="2338120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4632" y="2354580"/>
            <a:ext cx="2514600" cy="13533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535" b="0">
                <a:solidFill>
                  <a:srgbClr val="CBD5E1"/>
                </a:solidFill>
                <a:latin typeface="Calibri"/>
              </a:rPr>
              <a:t>Advisor topic/timeline meetings; GPA/core grade check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23179" y="2353665"/>
            <a:ext cx="1172870" cy="131673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38912" y="2510942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84632" y="2527401"/>
            <a:ext cx="2514600" cy="13533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535" b="0">
                <a:solidFill>
                  <a:srgbClr val="CBD5E1"/>
                </a:solidFill>
                <a:latin typeface="Calibri"/>
              </a:rPr>
              <a:t>Plan of Study + prelim committee finalized (3+ faculty)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547893" y="2526487"/>
            <a:ext cx="1097965" cy="131673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38912" y="2683764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84632" y="2700223"/>
            <a:ext cx="2514600" cy="13533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535" b="0">
                <a:solidFill>
                  <a:srgbClr val="CBD5E1"/>
                </a:solidFill>
                <a:latin typeface="Calibri"/>
              </a:rPr>
              <a:t>Develop reading list from research topic (10+ weeks out)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72225" y="2699308"/>
            <a:ext cx="498729" cy="131673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38912" y="2856585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84632" y="2873044"/>
            <a:ext cx="2514600" cy="13533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535" b="0">
                <a:solidFill>
                  <a:srgbClr val="CBD5E1"/>
                </a:solidFill>
                <a:latin typeface="Calibri"/>
              </a:rPr>
              <a:t>Submit reading list 9 weeks out; committee review/revise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559105" y="2872130"/>
            <a:ext cx="386372" cy="13167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38912" y="3029407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84632" y="3045866"/>
            <a:ext cx="2514600" cy="13533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535" b="0">
                <a:solidFill>
                  <a:srgbClr val="CBD5E1"/>
                </a:solidFill>
                <a:latin typeface="Calibri"/>
              </a:rPr>
              <a:t>Questions finalized + dept review; written component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96176" y="3044952"/>
            <a:ext cx="311467" cy="13167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38912" y="3202228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84632" y="3218688"/>
            <a:ext cx="2514600" cy="13533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535" b="0">
                <a:solidFill>
                  <a:srgbClr val="CBD5E1"/>
                </a:solidFill>
                <a:latin typeface="Calibri"/>
              </a:rPr>
              <a:t>Written review, oral exam, official result, Form 10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233246" y="3217773"/>
            <a:ext cx="274015" cy="13167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0" y="3422599"/>
            <a:ext cx="438912" cy="162763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38912" y="3422599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7432" y="3450031"/>
            <a:ext cx="384048" cy="10789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Calibri"/>
              </a:rPr>
              <a:t>CONTING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38912" y="3422599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84632" y="3439058"/>
            <a:ext cx="2514600" cy="13533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535" b="0">
                <a:solidFill>
                  <a:srgbClr val="CBD5E1"/>
                </a:solidFill>
                <a:latin typeface="Calibri"/>
              </a:rPr>
              <a:t>Retake window if needed - next immediate semester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70317" y="3438144"/>
            <a:ext cx="723442" cy="131673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0" y="3642969"/>
            <a:ext cx="438912" cy="85404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38912" y="3642969"/>
            <a:ext cx="2587752" cy="854049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432" y="3670401"/>
            <a:ext cx="384048" cy="79918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509" b="1">
                <a:solidFill>
                  <a:srgbClr val="FFFFFF"/>
                </a:solidFill>
                <a:latin typeface="Calibri"/>
              </a:rPr>
              <a:t>RESEARCH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38912" y="3642969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84632" y="3659428"/>
            <a:ext cx="2514600" cy="13533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535" b="0">
                <a:solidFill>
                  <a:srgbClr val="CBD5E1"/>
                </a:solidFill>
                <a:latin typeface="Calibri"/>
              </a:rPr>
              <a:t>Research foundation: literature, problem framing, pilot ideas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76041" y="3658514"/>
            <a:ext cx="3494913" cy="131673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38912" y="3815791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84632" y="3832250"/>
            <a:ext cx="2514600" cy="13533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535" b="0">
                <a:solidFill>
                  <a:srgbClr val="CBD5E1"/>
                </a:solidFill>
                <a:latin typeface="Calibri"/>
              </a:rPr>
              <a:t>Prelim synthesis + proposal outline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821271" y="3831336"/>
            <a:ext cx="723442" cy="131673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38912" y="3988612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84632" y="4005072"/>
            <a:ext cx="2514600" cy="13533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535" b="0">
                <a:solidFill>
                  <a:srgbClr val="CBD5E1"/>
                </a:solidFill>
                <a:latin typeface="Calibri"/>
              </a:rPr>
              <a:t>Proposal development: design, methods, committee feedback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70317" y="4004157"/>
            <a:ext cx="1996821" cy="131673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38912" y="4161434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84632" y="4177893"/>
            <a:ext cx="2514600" cy="13533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535" b="0">
                <a:solidFill>
                  <a:srgbClr val="CBD5E1"/>
                </a:solidFill>
                <a:latin typeface="Calibri"/>
              </a:rPr>
              <a:t>Data collection and analysis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817455" y="4176979"/>
            <a:ext cx="1472488" cy="131673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38912" y="4334256"/>
            <a:ext cx="2587752" cy="162763"/>
          </a:xfrm>
          <a:prstGeom prst="rect">
            <a:avLst/>
          </a:prstGeom>
          <a:solidFill>
            <a:srgbClr val="0D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84632" y="4350715"/>
            <a:ext cx="2514600" cy="135331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535" b="0">
                <a:solidFill>
                  <a:srgbClr val="CBD5E1"/>
                </a:solidFill>
                <a:latin typeface="Calibri"/>
              </a:rPr>
              <a:t>Dissertation writing, revisions, defense preparation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566501" y="4349800"/>
            <a:ext cx="1472488" cy="131673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Diamond 114"/>
          <p:cNvSpPr/>
          <p:nvPr/>
        </p:nvSpPr>
        <p:spPr>
          <a:xfrm>
            <a:off x="6591345" y="4661611"/>
            <a:ext cx="164592" cy="164592"/>
          </a:xfrm>
          <a:prstGeom prst="diamond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6673641" y="1033272"/>
            <a:ext cx="0" cy="3628339"/>
          </a:xfrm>
          <a:prstGeom prst="line">
            <a:avLst/>
          </a:prstGeom>
          <a:ln w="8890">
            <a:solidFill>
              <a:srgbClr val="0F76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6280449" y="4853635"/>
            <a:ext cx="786384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20" b="1">
                <a:solidFill>
                  <a:srgbClr val="0F766E"/>
                </a:solidFill>
                <a:latin typeface="Calibri"/>
              </a:rPr>
              <a:t>POS +
course audit</a:t>
            </a:r>
          </a:p>
        </p:txBody>
      </p:sp>
      <p:sp>
        <p:nvSpPr>
          <p:cNvPr id="118" name="Diamond 117"/>
          <p:cNvSpPr/>
          <p:nvPr/>
        </p:nvSpPr>
        <p:spPr>
          <a:xfrm>
            <a:off x="7115677" y="4661611"/>
            <a:ext cx="164592" cy="164592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7197973" y="1033272"/>
            <a:ext cx="0" cy="3628339"/>
          </a:xfrm>
          <a:prstGeom prst="line">
            <a:avLst/>
          </a:prstGeom>
          <a:ln w="889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6804781" y="4981651"/>
            <a:ext cx="786384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20" b="1">
                <a:solidFill>
                  <a:srgbClr val="F59E0B"/>
                </a:solidFill>
                <a:latin typeface="Calibri"/>
              </a:rPr>
              <a:t>Prelim
Exam</a:t>
            </a:r>
          </a:p>
        </p:txBody>
      </p:sp>
      <p:sp>
        <p:nvSpPr>
          <p:cNvPr id="121" name="Diamond 120"/>
          <p:cNvSpPr/>
          <p:nvPr/>
        </p:nvSpPr>
        <p:spPr>
          <a:xfrm>
            <a:off x="7834762" y="4661611"/>
            <a:ext cx="164592" cy="164592"/>
          </a:xfrm>
          <a:prstGeom prst="diamond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7917058" y="1033272"/>
            <a:ext cx="0" cy="3628339"/>
          </a:xfrm>
          <a:prstGeom prst="line">
            <a:avLst/>
          </a:prstGeom>
          <a:ln w="889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7523866" y="4853635"/>
            <a:ext cx="786384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20" b="1">
                <a:solidFill>
                  <a:srgbClr val="94A3B8"/>
                </a:solidFill>
                <a:latin typeface="Calibri"/>
              </a:rPr>
              <a:t>Retake
if needed</a:t>
            </a:r>
          </a:p>
        </p:txBody>
      </p:sp>
      <p:sp>
        <p:nvSpPr>
          <p:cNvPr id="124" name="Diamond 123"/>
          <p:cNvSpPr/>
          <p:nvPr/>
        </p:nvSpPr>
        <p:spPr>
          <a:xfrm>
            <a:off x="9347835" y="4661611"/>
            <a:ext cx="164592" cy="164592"/>
          </a:xfrm>
          <a:prstGeom prst="diamond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9430131" y="1033272"/>
            <a:ext cx="0" cy="3628339"/>
          </a:xfrm>
          <a:prstGeom prst="line">
            <a:avLst/>
          </a:prstGeom>
          <a:ln w="8890">
            <a:solidFill>
              <a:srgbClr val="DC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9036939" y="4981651"/>
            <a:ext cx="786384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20" b="1">
                <a:solidFill>
                  <a:srgbClr val="DC2626"/>
                </a:solidFill>
                <a:latin typeface="Calibri"/>
              </a:rPr>
              <a:t>Proposal
Defense</a:t>
            </a:r>
          </a:p>
        </p:txBody>
      </p:sp>
      <p:sp>
        <p:nvSpPr>
          <p:cNvPr id="127" name="Diamond 126"/>
          <p:cNvSpPr/>
          <p:nvPr/>
        </p:nvSpPr>
        <p:spPr>
          <a:xfrm>
            <a:off x="11579992" y="4661611"/>
            <a:ext cx="164592" cy="164592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>
            <a:off x="11662288" y="1033272"/>
            <a:ext cx="0" cy="3628339"/>
          </a:xfrm>
          <a:prstGeom prst="line">
            <a:avLst/>
          </a:prstGeom>
          <a:ln w="889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11269096" y="4853635"/>
            <a:ext cx="786384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20" b="1">
                <a:solidFill>
                  <a:srgbClr val="F59E0B"/>
                </a:solidFill>
                <a:latin typeface="Calibri"/>
              </a:rPr>
              <a:t>Final
Defense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74320" y="6528816"/>
            <a:ext cx="146304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66344" y="6496812"/>
            <a:ext cx="1298448" cy="20116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70" b="0">
                <a:solidFill>
                  <a:srgbClr val="CBD5E1"/>
                </a:solidFill>
                <a:latin typeface="Calibri"/>
              </a:rPr>
              <a:t>Transfer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938528" y="6528816"/>
            <a:ext cx="146304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130552" y="6496812"/>
            <a:ext cx="1298448" cy="20116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70" b="0">
                <a:solidFill>
                  <a:srgbClr val="CBD5E1"/>
                </a:solidFill>
                <a:latin typeface="Calibri"/>
              </a:rPr>
              <a:t>Current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602736" y="6528816"/>
            <a:ext cx="146304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794760" y="6496812"/>
            <a:ext cx="1298448" cy="20116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70" b="0">
                <a:solidFill>
                  <a:srgbClr val="CBD5E1"/>
                </a:solidFill>
                <a:latin typeface="Calibri"/>
              </a:rPr>
              <a:t>Coursework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266944" y="6528816"/>
            <a:ext cx="146304" cy="137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458968" y="6496812"/>
            <a:ext cx="1298448" cy="20116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70" b="0">
                <a:solidFill>
                  <a:srgbClr val="CBD5E1"/>
                </a:solidFill>
                <a:latin typeface="Calibri"/>
              </a:rPr>
              <a:t>Admin/Prereq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931152" y="6528816"/>
            <a:ext cx="146304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123176" y="6496812"/>
            <a:ext cx="1298448" cy="20116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70" b="0">
                <a:solidFill>
                  <a:srgbClr val="CBD5E1"/>
                </a:solidFill>
                <a:latin typeface="Calibri"/>
              </a:rPr>
              <a:t>Prelim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595360" y="6528816"/>
            <a:ext cx="146304" cy="13716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787384" y="6496812"/>
            <a:ext cx="1298448" cy="20116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70" b="0">
                <a:solidFill>
                  <a:srgbClr val="CBD5E1"/>
                </a:solidFill>
                <a:latin typeface="Calibri"/>
              </a:rPr>
              <a:t>Research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0259568" y="6528816"/>
            <a:ext cx="146304" cy="1371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451592" y="6496812"/>
            <a:ext cx="1298448" cy="20116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70" b="0">
                <a:solidFill>
                  <a:srgbClr val="CBD5E1"/>
                </a:solidFill>
                <a:latin typeface="Calibri"/>
              </a:rPr>
              <a:t>Contingency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601200" cy="32004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rebuchet MS"/>
              </a:rPr>
              <a:t>PRELIMINARY EXAM HANDBOOK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38912"/>
            <a:ext cx="10698480" cy="219456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Fall 2027 target with relative deadlines from the approved Polytechnic handbook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22960"/>
            <a:ext cx="2670048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873252"/>
            <a:ext cx="2523744" cy="20116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0" b="1">
                <a:solidFill>
                  <a:srgbClr val="FFFFFF"/>
                </a:solidFill>
                <a:latin typeface="Calibri"/>
              </a:rPr>
              <a:t>1. Eligibility Gates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2670048" cy="329184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207008"/>
            <a:ext cx="2523744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85" b="0">
                <a:solidFill>
                  <a:srgbClr val="CBD5E1"/>
                </a:solidFill>
                <a:latin typeface="Calibri"/>
              </a:rPr>
              <a:t>- Approved Plan of Study.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27048"/>
            <a:ext cx="2670048" cy="329184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563624"/>
            <a:ext cx="2523744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85" b="0">
                <a:solidFill>
                  <a:srgbClr val="CBD5E1"/>
                </a:solidFill>
                <a:latin typeface="Calibri"/>
              </a:rPr>
              <a:t>- Good standing: 3.0+ GPA.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83664"/>
            <a:ext cx="2670048" cy="329184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920240"/>
            <a:ext cx="2523744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85" b="0">
                <a:solidFill>
                  <a:srgbClr val="CBD5E1"/>
                </a:solidFill>
                <a:latin typeface="Calibri"/>
              </a:rPr>
              <a:t>- No unresolved core grade below B-.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40280"/>
            <a:ext cx="2670048" cy="329184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2276856"/>
            <a:ext cx="2523744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85" b="0">
                <a:solidFill>
                  <a:srgbClr val="CBD5E1"/>
                </a:solidFill>
                <a:latin typeface="Calibri"/>
              </a:rPr>
              <a:t>- Required courses complete or in progress.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96896"/>
            <a:ext cx="2670048" cy="329184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2633472"/>
            <a:ext cx="2523744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85" b="0">
                <a:solidFill>
                  <a:srgbClr val="CBD5E1"/>
                </a:solidFill>
                <a:latin typeface="Calibri"/>
              </a:rPr>
              <a:t>- Committee: 3+ graduate faculty; majority regular.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822960"/>
            <a:ext cx="2670048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9272" y="873252"/>
            <a:ext cx="2523744" cy="20116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0" b="1">
                <a:solidFill>
                  <a:srgbClr val="FFFFFF"/>
                </a:solidFill>
                <a:latin typeface="Calibri"/>
              </a:rPr>
              <a:t>2. Reading 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170432"/>
            <a:ext cx="2670048" cy="329184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9272" y="1207008"/>
            <a:ext cx="2523744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85" b="0">
                <a:solidFill>
                  <a:srgbClr val="CBD5E1"/>
                </a:solidFill>
                <a:latin typeface="Calibri"/>
              </a:rPr>
              <a:t>- Meet advisor on topic and timeline.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1527048"/>
            <a:ext cx="2670048" cy="329184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9272" y="1563624"/>
            <a:ext cx="2523744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85" b="0">
                <a:solidFill>
                  <a:srgbClr val="CBD5E1"/>
                </a:solidFill>
                <a:latin typeface="Calibri"/>
              </a:rPr>
              <a:t>- Develop topic-linked list at least 10 weeks out.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1883664"/>
            <a:ext cx="2670048" cy="329184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9272" y="1920240"/>
            <a:ext cx="2523744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85" b="0">
                <a:solidFill>
                  <a:srgbClr val="CBD5E1"/>
                </a:solidFill>
                <a:latin typeface="Calibri"/>
              </a:rPr>
              <a:t>- Submit to committee exactly 9 weeks out.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2240280"/>
            <a:ext cx="2670048" cy="329184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9272" y="2276856"/>
            <a:ext cx="2523744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85" b="0">
                <a:solidFill>
                  <a:srgbClr val="CBD5E1"/>
                </a:solidFill>
                <a:latin typeface="Calibri"/>
              </a:rPr>
              <a:t>- Committee reviews/revises within 2 weeks.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822960"/>
            <a:ext cx="2670048" cy="3108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5352" y="873252"/>
            <a:ext cx="2523744" cy="20116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0" b="1">
                <a:solidFill>
                  <a:srgbClr val="FFFFFF"/>
                </a:solidFill>
                <a:latin typeface="Calibri"/>
              </a:rPr>
              <a:t>3. Written Component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1170432"/>
            <a:ext cx="2670048" cy="329184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5352" y="1207008"/>
            <a:ext cx="2523744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85" b="0">
                <a:solidFill>
                  <a:srgbClr val="CBD5E1"/>
                </a:solidFill>
                <a:latin typeface="Calibri"/>
              </a:rPr>
              <a:t>- Questions finalized from approved list.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1527048"/>
            <a:ext cx="2670048" cy="329184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5352" y="1563624"/>
            <a:ext cx="2523744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85" b="0">
                <a:solidFill>
                  <a:srgbClr val="CBD5E1"/>
                </a:solidFill>
                <a:latin typeface="Calibri"/>
              </a:rPr>
              <a:t>- Chair sends questions for department review.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1883664"/>
            <a:ext cx="2670048" cy="329184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5352" y="1920240"/>
            <a:ext cx="2523744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85" b="0">
                <a:solidFill>
                  <a:srgbClr val="CBD5E1"/>
                </a:solidFill>
                <a:latin typeface="Calibri"/>
              </a:rPr>
              <a:t>- Complete written responses within 6 weeks.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2240280"/>
            <a:ext cx="2670048" cy="329184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5352" y="2276856"/>
            <a:ext cx="2523744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85" b="0">
                <a:solidFill>
                  <a:srgbClr val="CBD5E1"/>
                </a:solidFill>
                <a:latin typeface="Calibri"/>
              </a:rPr>
              <a:t>- Submit responses immediately on completion.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822960"/>
            <a:ext cx="2670048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71432" y="873252"/>
            <a:ext cx="2523744" cy="20116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0" b="1">
                <a:solidFill>
                  <a:srgbClr val="FFFFFF"/>
                </a:solidFill>
                <a:latin typeface="Calibri"/>
              </a:rPr>
              <a:t>4. Oral + Result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1170432"/>
            <a:ext cx="2670048" cy="329184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71432" y="1207008"/>
            <a:ext cx="2523744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85" b="0">
                <a:solidFill>
                  <a:srgbClr val="CBD5E1"/>
                </a:solidFill>
                <a:latin typeface="Calibri"/>
              </a:rPr>
              <a:t>- Committee reviews written work within 2 weeks.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98280" y="1527048"/>
            <a:ext cx="2670048" cy="329184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71432" y="1563624"/>
            <a:ext cx="2523744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85" b="0">
                <a:solidFill>
                  <a:srgbClr val="CBD5E1"/>
                </a:solidFill>
                <a:latin typeface="Calibri"/>
              </a:rPr>
              <a:t>- Written result sent within 1 week.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98280" y="1883664"/>
            <a:ext cx="2670048" cy="329184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71432" y="1920240"/>
            <a:ext cx="2523744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85" b="0">
                <a:solidFill>
                  <a:srgbClr val="CBD5E1"/>
                </a:solidFill>
                <a:latin typeface="Calibri"/>
              </a:rPr>
              <a:t>- If approved, oral exam scheduled within 2 weeks.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98280" y="2240280"/>
            <a:ext cx="2670048" cy="329184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71432" y="2276856"/>
            <a:ext cx="2523744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85" b="0">
                <a:solidFill>
                  <a:srgbClr val="CBD5E1"/>
                </a:solidFill>
                <a:latin typeface="Calibri"/>
              </a:rPr>
              <a:t>- If both approved, Chair submits electronic Form 10.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337560"/>
            <a:ext cx="11521440" cy="310896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392424"/>
            <a:ext cx="7772400" cy="20116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Calibri"/>
              </a:rPr>
              <a:t>Fall 2027 dependency chain for the Gantt milestone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85800" y="4224528"/>
            <a:ext cx="9729216" cy="0"/>
          </a:xfrm>
          <a:prstGeom prst="line">
            <a:avLst/>
          </a:prstGeom>
          <a:ln w="127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Diamond 50"/>
          <p:cNvSpPr/>
          <p:nvPr/>
        </p:nvSpPr>
        <p:spPr>
          <a:xfrm>
            <a:off x="585216" y="4133088"/>
            <a:ext cx="182880" cy="182880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1752" y="4389120"/>
            <a:ext cx="749808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710" b="1">
                <a:solidFill>
                  <a:srgbClr val="F59E0B"/>
                </a:solidFill>
                <a:latin typeface="Calibri"/>
              </a:rPr>
              <a:t>-10 wks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2024" y="4617720"/>
            <a:ext cx="100584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25" b="0">
                <a:solidFill>
                  <a:srgbClr val="CBD5E1"/>
                </a:solidFill>
                <a:latin typeface="Calibri"/>
              </a:rPr>
              <a:t>Reading list draft</a:t>
            </a:r>
          </a:p>
        </p:txBody>
      </p:sp>
      <p:sp>
        <p:nvSpPr>
          <p:cNvPr id="54" name="Diamond 53"/>
          <p:cNvSpPr/>
          <p:nvPr/>
        </p:nvSpPr>
        <p:spPr>
          <a:xfrm>
            <a:off x="1975104" y="4133088"/>
            <a:ext cx="182880" cy="182880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91640" y="4389120"/>
            <a:ext cx="749808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710" b="1">
                <a:solidFill>
                  <a:srgbClr val="F59E0B"/>
                </a:solidFill>
                <a:latin typeface="Calibri"/>
              </a:rPr>
              <a:t>-9 wks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81912" y="4617720"/>
            <a:ext cx="100584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25" b="0">
                <a:solidFill>
                  <a:srgbClr val="CBD5E1"/>
                </a:solidFill>
                <a:latin typeface="Calibri"/>
              </a:rPr>
              <a:t>Submit list</a:t>
            </a:r>
          </a:p>
        </p:txBody>
      </p:sp>
      <p:sp>
        <p:nvSpPr>
          <p:cNvPr id="57" name="Diamond 56"/>
          <p:cNvSpPr/>
          <p:nvPr/>
        </p:nvSpPr>
        <p:spPr>
          <a:xfrm>
            <a:off x="3364991" y="4133088"/>
            <a:ext cx="182880" cy="182880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81527" y="4389120"/>
            <a:ext cx="749808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710" b="1">
                <a:solidFill>
                  <a:srgbClr val="F59E0B"/>
                </a:solidFill>
                <a:latin typeface="Calibri"/>
              </a:rPr>
              <a:t>-7 wks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71800" y="4617720"/>
            <a:ext cx="100584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25" b="0">
                <a:solidFill>
                  <a:srgbClr val="CBD5E1"/>
                </a:solidFill>
                <a:latin typeface="Calibri"/>
              </a:rPr>
              <a:t>List approved</a:t>
            </a:r>
          </a:p>
        </p:txBody>
      </p:sp>
      <p:sp>
        <p:nvSpPr>
          <p:cNvPr id="60" name="Diamond 59"/>
          <p:cNvSpPr/>
          <p:nvPr/>
        </p:nvSpPr>
        <p:spPr>
          <a:xfrm>
            <a:off x="4754880" y="4133088"/>
            <a:ext cx="182880" cy="182880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71416" y="4389120"/>
            <a:ext cx="749808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710" b="1">
                <a:solidFill>
                  <a:srgbClr val="F59E0B"/>
                </a:solidFill>
                <a:latin typeface="Calibri"/>
              </a:rPr>
              <a:t>-6 wks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61688" y="4617720"/>
            <a:ext cx="100584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25" b="0">
                <a:solidFill>
                  <a:srgbClr val="CBD5E1"/>
                </a:solidFill>
                <a:latin typeface="Calibri"/>
              </a:rPr>
              <a:t>Questions to dept</a:t>
            </a:r>
          </a:p>
        </p:txBody>
      </p:sp>
      <p:sp>
        <p:nvSpPr>
          <p:cNvPr id="63" name="Diamond 62"/>
          <p:cNvSpPr/>
          <p:nvPr/>
        </p:nvSpPr>
        <p:spPr>
          <a:xfrm>
            <a:off x="6144768" y="4133088"/>
            <a:ext cx="182880" cy="182880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61304" y="4389120"/>
            <a:ext cx="749808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710" b="1">
                <a:solidFill>
                  <a:srgbClr val="F59E0B"/>
                </a:solidFill>
                <a:latin typeface="Calibri"/>
              </a:rPr>
              <a:t>Exam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51576" y="4617720"/>
            <a:ext cx="100584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25" b="0">
                <a:solidFill>
                  <a:srgbClr val="CBD5E1"/>
                </a:solidFill>
                <a:latin typeface="Calibri"/>
              </a:rPr>
              <a:t>Written component</a:t>
            </a:r>
          </a:p>
        </p:txBody>
      </p:sp>
      <p:sp>
        <p:nvSpPr>
          <p:cNvPr id="66" name="Diamond 65"/>
          <p:cNvSpPr/>
          <p:nvPr/>
        </p:nvSpPr>
        <p:spPr>
          <a:xfrm>
            <a:off x="7534656" y="4133088"/>
            <a:ext cx="182880" cy="182880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51192" y="4389120"/>
            <a:ext cx="749808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710" b="1">
                <a:solidFill>
                  <a:srgbClr val="F59E0B"/>
                </a:solidFill>
                <a:latin typeface="Calibri"/>
              </a:rPr>
              <a:t>+2 wks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41464" y="4617720"/>
            <a:ext cx="100584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25" b="0">
                <a:solidFill>
                  <a:srgbClr val="CBD5E1"/>
                </a:solidFill>
                <a:latin typeface="Calibri"/>
              </a:rPr>
              <a:t>Committee review</a:t>
            </a:r>
          </a:p>
        </p:txBody>
      </p:sp>
      <p:sp>
        <p:nvSpPr>
          <p:cNvPr id="69" name="Diamond 68"/>
          <p:cNvSpPr/>
          <p:nvPr/>
        </p:nvSpPr>
        <p:spPr>
          <a:xfrm>
            <a:off x="8924544" y="4133088"/>
            <a:ext cx="182880" cy="182880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41080" y="4389120"/>
            <a:ext cx="749808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710" b="1">
                <a:solidFill>
                  <a:srgbClr val="F59E0B"/>
                </a:solidFill>
                <a:latin typeface="Calibri"/>
              </a:rPr>
              <a:t>+4 wks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31352" y="4617720"/>
            <a:ext cx="100584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25" b="0">
                <a:solidFill>
                  <a:srgbClr val="CBD5E1"/>
                </a:solidFill>
                <a:latin typeface="Calibri"/>
              </a:rPr>
              <a:t>Oral exam</a:t>
            </a:r>
          </a:p>
        </p:txBody>
      </p:sp>
      <p:sp>
        <p:nvSpPr>
          <p:cNvPr id="72" name="Diamond 71"/>
          <p:cNvSpPr/>
          <p:nvPr/>
        </p:nvSpPr>
        <p:spPr>
          <a:xfrm>
            <a:off x="10314432" y="4133088"/>
            <a:ext cx="182880" cy="182880"/>
          </a:xfrm>
          <a:prstGeom prst="diamond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030968" y="4389120"/>
            <a:ext cx="749808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710" b="1">
                <a:solidFill>
                  <a:srgbClr val="F59E0B"/>
                </a:solidFill>
                <a:latin typeface="Calibri"/>
              </a:rPr>
              <a:t>+1 wk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21240" y="4617720"/>
            <a:ext cx="100584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25" b="0">
                <a:solidFill>
                  <a:srgbClr val="CBD5E1"/>
                </a:solidFill>
                <a:latin typeface="Calibri"/>
              </a:rPr>
              <a:t>Form 10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040" y="5742432"/>
            <a:ext cx="3657600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3192" y="5783580"/>
            <a:ext cx="3511296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Pass Path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5998464"/>
            <a:ext cx="3657600" cy="43891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02335" y="6044184"/>
            <a:ext cx="3493008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80" b="0">
                <a:solidFill>
                  <a:srgbClr val="CBD5E1"/>
                </a:solidFill>
                <a:latin typeface="Calibri"/>
              </a:rPr>
              <a:t>Written and oral components must both be Approved in the same administration.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60520" y="5742432"/>
            <a:ext cx="3657600" cy="2560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33672" y="5783580"/>
            <a:ext cx="3511296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Retake Rule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60520" y="5998464"/>
            <a:ext cx="3657600" cy="43891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42816" y="6044184"/>
            <a:ext cx="3493008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80" b="0">
                <a:solidFill>
                  <a:srgbClr val="CBD5E1"/>
                </a:solidFill>
                <a:latin typeface="Calibri"/>
              </a:rPr>
              <a:t>If Not Approved, the second prelim should be completed by Spring 2028; summer does not count as the next immediate semester.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001000" y="5742432"/>
            <a:ext cx="365760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74152" y="5783580"/>
            <a:ext cx="3511296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Defense Guardrail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001000" y="5998464"/>
            <a:ext cx="3657600" cy="43891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83296" y="6044184"/>
            <a:ext cx="3493008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680" b="0">
                <a:solidFill>
                  <a:srgbClr val="CBD5E1"/>
                </a:solidFill>
                <a:latin typeface="Calibri"/>
              </a:rPr>
              <a:t>Final defense in Fall 2029 leaves far more than two registration sessions after the Fall 2027 prelim.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515600" cy="32004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rebuchet MS"/>
              </a:rPr>
              <a:t>KEY MILESTONES: REQUIREMENTS, DEPENDENCIES,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594360"/>
            <a:ext cx="11612880" cy="274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930" b="1">
                <a:solidFill>
                  <a:srgbClr val="FFFFFF"/>
                </a:solidFill>
                <a:latin typeface="Calibri"/>
              </a:rPr>
              <a:t>AUG 2027 - POS + COURSEWORK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86968"/>
            <a:ext cx="1828800" cy="320040"/>
          </a:xfrm>
          <a:prstGeom prst="rect">
            <a:avLst/>
          </a:prstGeom>
          <a:solidFill>
            <a:srgbClr val="0F172A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64692"/>
            <a:ext cx="1645920" cy="16459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20" b="1">
                <a:solidFill>
                  <a:srgbClr val="3B82F6"/>
                </a:solidFill>
                <a:latin typeface="Calibri"/>
              </a:rPr>
              <a:t>Requirement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886968"/>
            <a:ext cx="9738360" cy="320040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937259"/>
            <a:ext cx="95097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Approved POS, committee plan, GPA/core-grade review, and final prelim-semester course plan locked.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225295"/>
            <a:ext cx="1828800" cy="320040"/>
          </a:xfrm>
          <a:prstGeom prst="rect">
            <a:avLst/>
          </a:prstGeom>
          <a:solidFill>
            <a:srgbClr val="0F172A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303019"/>
            <a:ext cx="1645920" cy="16459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20" b="1">
                <a:solidFill>
                  <a:srgbClr val="3B82F6"/>
                </a:solidFill>
                <a:latin typeface="Calibri"/>
              </a:rPr>
              <a:t>Why placed 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1225295"/>
            <a:ext cx="9738360" cy="320040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1275587"/>
            <a:ext cx="95097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Confirms handbook eligibility before the reading-list clock starts.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82495"/>
            <a:ext cx="1161288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728216"/>
            <a:ext cx="11338560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930" b="1">
                <a:solidFill>
                  <a:srgbClr val="FFFFFF"/>
                </a:solidFill>
                <a:latin typeface="Calibri"/>
              </a:rPr>
              <a:t>FALL 2027 - PRELIMINARY EXAM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975103"/>
            <a:ext cx="1828800" cy="320040"/>
          </a:xfrm>
          <a:prstGeom prst="rect">
            <a:avLst/>
          </a:prstGeom>
          <a:solidFill>
            <a:srgbClr val="0F172A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052827"/>
            <a:ext cx="1645920" cy="16459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20" b="1">
                <a:solidFill>
                  <a:srgbClr val="3B82F6"/>
                </a:solidFill>
                <a:latin typeface="Calibri"/>
              </a:rPr>
              <a:t>Requirement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1975103"/>
            <a:ext cx="9738360" cy="320040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0280" y="2025395"/>
            <a:ext cx="95097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Reading list approved; written response completed; oral component passed; Chair submits electronic Form 10.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313432"/>
            <a:ext cx="1828800" cy="320040"/>
          </a:xfrm>
          <a:prstGeom prst="rect">
            <a:avLst/>
          </a:prstGeom>
          <a:solidFill>
            <a:srgbClr val="0F172A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391156"/>
            <a:ext cx="1645920" cy="16459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20" b="1">
                <a:solidFill>
                  <a:srgbClr val="3B82F6"/>
                </a:solidFill>
                <a:latin typeface="Calibri"/>
              </a:rPr>
              <a:t>Why placed here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2313432"/>
            <a:ext cx="9738360" cy="320040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0280" y="2363724"/>
            <a:ext cx="95097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Moves the plan from coursework-heavy preparation into proposal development.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770632"/>
            <a:ext cx="11612880" cy="274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816351"/>
            <a:ext cx="11338560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930" b="1">
                <a:solidFill>
                  <a:srgbClr val="FFFFFF"/>
                </a:solidFill>
                <a:latin typeface="Calibri"/>
              </a:rPr>
              <a:t>SPRING 2028 - RETAKE WINDOW IF NEEDED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063239"/>
            <a:ext cx="1828800" cy="320040"/>
          </a:xfrm>
          <a:prstGeom prst="rect">
            <a:avLst/>
          </a:prstGeom>
          <a:solidFill>
            <a:srgbClr val="0F172A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140963"/>
            <a:ext cx="1645920" cy="16459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20" b="1">
                <a:solidFill>
                  <a:srgbClr val="3B82F6"/>
                </a:solidFill>
                <a:latin typeface="Calibri"/>
              </a:rPr>
              <a:t>Requirement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48840" y="3063239"/>
            <a:ext cx="9738360" cy="320040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40280" y="3113532"/>
            <a:ext cx="95097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Second prelim only if written or oral component is Not Approved in Fall 2027.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401568"/>
            <a:ext cx="1828800" cy="320040"/>
          </a:xfrm>
          <a:prstGeom prst="rect">
            <a:avLst/>
          </a:prstGeom>
          <a:solidFill>
            <a:srgbClr val="0F172A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479291"/>
            <a:ext cx="1645920" cy="16459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20" b="1">
                <a:solidFill>
                  <a:srgbClr val="3B82F6"/>
                </a:solidFill>
                <a:latin typeface="Calibri"/>
              </a:rPr>
              <a:t>Why placed here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8840" y="3401568"/>
            <a:ext cx="9738360" cy="320040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80" y="3451860"/>
            <a:ext cx="95097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Handbook requires the second administration by the next immediate semester; summer does not apply.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858768"/>
            <a:ext cx="1161288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904487"/>
            <a:ext cx="11338560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930" b="1">
                <a:solidFill>
                  <a:srgbClr val="FFFFFF"/>
                </a:solidFill>
                <a:latin typeface="Calibri"/>
              </a:rPr>
              <a:t>FALL 2028 - PROPOSAL DEFENSE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151376"/>
            <a:ext cx="1828800" cy="320040"/>
          </a:xfrm>
          <a:prstGeom prst="rect">
            <a:avLst/>
          </a:prstGeom>
          <a:solidFill>
            <a:srgbClr val="0F172A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229100"/>
            <a:ext cx="1645920" cy="16459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20" b="1">
                <a:solidFill>
                  <a:srgbClr val="3B82F6"/>
                </a:solidFill>
                <a:latin typeface="Calibri"/>
              </a:rPr>
              <a:t>Requirement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48840" y="4151376"/>
            <a:ext cx="9738360" cy="320040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40280" y="4201668"/>
            <a:ext cx="95097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Finalize research design, methods, data plan, committee feedback, and IRB/data protocol if applicable.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489704"/>
            <a:ext cx="1828800" cy="320040"/>
          </a:xfrm>
          <a:prstGeom prst="rect">
            <a:avLst/>
          </a:prstGeom>
          <a:solidFill>
            <a:srgbClr val="0F172A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567428"/>
            <a:ext cx="1645920" cy="16459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20" b="1">
                <a:solidFill>
                  <a:srgbClr val="3B82F6"/>
                </a:solidFill>
                <a:latin typeface="Calibri"/>
              </a:rPr>
              <a:t>Why placed here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48840" y="4489704"/>
            <a:ext cx="9738360" cy="320040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40280" y="4539996"/>
            <a:ext cx="95097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Creates a clean handoff into Spring-Summer 2029 data collection and analysis.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946904"/>
            <a:ext cx="11612880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4992624"/>
            <a:ext cx="11338560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930" b="1">
                <a:solidFill>
                  <a:srgbClr val="FFFFFF"/>
                </a:solidFill>
                <a:latin typeface="Calibri"/>
              </a:rPr>
              <a:t>FALL 2029 - FINAL DEFENSE + ETD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239512"/>
            <a:ext cx="1828800" cy="320040"/>
          </a:xfrm>
          <a:prstGeom prst="rect">
            <a:avLst/>
          </a:prstGeom>
          <a:solidFill>
            <a:srgbClr val="0F172A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5317236"/>
            <a:ext cx="1645920" cy="16459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20" b="1">
                <a:solidFill>
                  <a:srgbClr val="3B82F6"/>
                </a:solidFill>
                <a:latin typeface="Calibri"/>
              </a:rPr>
              <a:t>Requirement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48840" y="5239512"/>
            <a:ext cx="9738360" cy="320040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40280" y="5289804"/>
            <a:ext cx="95097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Complete dissertation, defend, address revisions, submit ETD, and clear graduation requirements.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577840"/>
            <a:ext cx="1828800" cy="320040"/>
          </a:xfrm>
          <a:prstGeom prst="rect">
            <a:avLst/>
          </a:prstGeom>
          <a:solidFill>
            <a:srgbClr val="0F172A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5655564"/>
            <a:ext cx="1645920" cy="164592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20" b="1">
                <a:solidFill>
                  <a:srgbClr val="3B82F6"/>
                </a:solidFill>
                <a:latin typeface="Calibri"/>
              </a:rPr>
              <a:t>Why placed here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48840" y="5577840"/>
            <a:ext cx="9738360" cy="320040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40280" y="5628132"/>
            <a:ext cx="95097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Final milestone stays at the end and satisfies the post-prelim registration-session spacing rule.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32004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rebuchet MS"/>
              </a:rPr>
              <a:t>COURSE INVENTORY &amp; CREDIT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38912"/>
            <a:ext cx="10972800" cy="219456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80" b="0">
                <a:solidFill>
                  <a:srgbClr val="94A3B8"/>
                </a:solidFill>
                <a:latin typeface="Calibri"/>
              </a:rPr>
              <a:t>Coursework is front-loaded so the Fall 2027 prelim has the handbook prerequisites in place.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13232"/>
            <a:ext cx="5623560" cy="21945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745236"/>
            <a:ext cx="5495544" cy="15544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alibri"/>
              </a:rPr>
              <a:t>TRANSFER - GSU MS (21 cr)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941832"/>
            <a:ext cx="5623560" cy="16459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964692"/>
            <a:ext cx="5477256" cy="12801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CIS 8005 Data Programming (3cr)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111910"/>
            <a:ext cx="5623560" cy="16459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134770"/>
            <a:ext cx="5477256" cy="12801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CIS 8398 Advanced AI for Business (3cr)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281988"/>
            <a:ext cx="5623560" cy="16459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" y="1304848"/>
            <a:ext cx="5477256" cy="12801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CIS 8695 Big Data Analytics (3cr)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452067"/>
            <a:ext cx="5623560" cy="16459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1474927"/>
            <a:ext cx="5477256" cy="12801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CIS 8795 Big Data Infrastructure (3cr)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622145"/>
            <a:ext cx="5623560" cy="16459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" y="1645005"/>
            <a:ext cx="5477256" cy="12801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CIS 8080 IS Security &amp; Privacy (3cr)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1792223"/>
            <a:ext cx="5623560" cy="16459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" y="1815083"/>
            <a:ext cx="5477256" cy="12801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CIS 8045 Unstructured Data Management (3cr)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1962302"/>
            <a:ext cx="5623560" cy="16459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" y="1985162"/>
            <a:ext cx="5477256" cy="12801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CIS 8690 Topics in Information Systems (3cr)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187244"/>
            <a:ext cx="5623560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" y="2219248"/>
            <a:ext cx="5495544" cy="15544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alibri"/>
              </a:rPr>
              <a:t>SPRING 2026 - Current (10 cr)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2415844"/>
            <a:ext cx="5623560" cy="16459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" y="2438704"/>
            <a:ext cx="5477256" cy="12801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TECH 60300 Graduate Seminar - Planning (1cr)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585923"/>
            <a:ext cx="5623560" cy="16459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" y="2608783"/>
            <a:ext cx="5477256" cy="12801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STAT 52000 Time Series &amp; Applications (3cr)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756001"/>
            <a:ext cx="5623560" cy="16459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" y="2778861"/>
            <a:ext cx="5477256" cy="12801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CS 59300 Computer Vision (3cr)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926079"/>
            <a:ext cx="5623560" cy="16459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" y="2948939"/>
            <a:ext cx="5477256" cy="12801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ECE 59500 Selected Topics in ECE (3cr)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3151022"/>
            <a:ext cx="5623560" cy="2194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" y="3183026"/>
            <a:ext cx="5495544" cy="15544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alibri"/>
              </a:rPr>
              <a:t>FALL 2026 - Core / Methods (10 cr)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3379622"/>
            <a:ext cx="5623560" cy="16459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752" y="3402482"/>
            <a:ext cx="5477256" cy="12801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MET 52700 Technology: Global Perspective (3cr)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3549700"/>
            <a:ext cx="5623560" cy="16459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2" y="3572560"/>
            <a:ext cx="5477256" cy="12801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STAT 50100 Experimental Statistics I (3cr)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719779"/>
            <a:ext cx="5623560" cy="16459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" y="3742639"/>
            <a:ext cx="5477256" cy="12801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TECH 60100 Research Seminar in Technology (1cr)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3889857"/>
            <a:ext cx="5623560" cy="16459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" y="3912717"/>
            <a:ext cx="5477256" cy="12801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TECH 64600 Analysis of Research in Industry (3cr)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713232"/>
            <a:ext cx="5623560" cy="2194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36208" y="745236"/>
            <a:ext cx="5495544" cy="15544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alibri"/>
              </a:rPr>
              <a:t>SPRING 2027 - Advanced Methods (9 cr)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941832"/>
            <a:ext cx="5623560" cy="18745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45352" y="964692"/>
            <a:ext cx="5477256" cy="15087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TECH 67600 Analysis of Research Methods (3cr)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1134770"/>
            <a:ext cx="5623560" cy="18745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45352" y="1157630"/>
            <a:ext cx="5477256" cy="15087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CS 57800 Statistical Machine Learning (3cr)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1327708"/>
            <a:ext cx="5623560" cy="18745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5352" y="1350568"/>
            <a:ext cx="5477256" cy="15087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CS 52000 Computational Optimization (3cr)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1575511"/>
            <a:ext cx="5623560" cy="2194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36208" y="1607515"/>
            <a:ext cx="5495544" cy="15544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alibri"/>
              </a:rPr>
              <a:t>SUMMER 2027 - Final Prep Load (6 cr)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1804111"/>
            <a:ext cx="5623560" cy="18745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45352" y="1826971"/>
            <a:ext cx="5477256" cy="15087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STAT 51400 Design of Experiments (3cr)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1997049"/>
            <a:ext cx="5623560" cy="18745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45352" y="2019909"/>
            <a:ext cx="5477256" cy="15087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CS 58000 Algorithm Design &amp; Analysis (3cr)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2189988"/>
            <a:ext cx="5623560" cy="18745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5352" y="2212848"/>
            <a:ext cx="5477256" cy="15087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Reading-list drafting and committee/POS audit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72200" y="2437790"/>
            <a:ext cx="5623560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36208" y="2469794"/>
            <a:ext cx="5495544" cy="15544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alibri"/>
              </a:rPr>
              <a:t>FALL 2027 - Final Coursework + Prelim (6 cr)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2666390"/>
            <a:ext cx="5623560" cy="18745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45352" y="2689250"/>
            <a:ext cx="5477256" cy="15087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STAT 52400 Applied Multivariate Analysis (3cr)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72200" y="2859328"/>
            <a:ext cx="5623560" cy="18745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45352" y="2882188"/>
            <a:ext cx="5477256" cy="15087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ECE 57000 Artificial Intelligence (3cr)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72200" y="3052267"/>
            <a:ext cx="5623560" cy="18745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45352" y="3075127"/>
            <a:ext cx="5477256" cy="15087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GRAD 68900 CSE Seminar (0cr)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72200" y="3245205"/>
            <a:ext cx="5623560" cy="18745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45352" y="3268065"/>
            <a:ext cx="5477256" cy="15087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Written prelim, oral prelim, Form 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72200" y="3493007"/>
            <a:ext cx="5623560" cy="219456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36208" y="3525011"/>
            <a:ext cx="5495544" cy="15544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alibri"/>
              </a:rPr>
              <a:t>SPRING 2028 - FALL 2029 - Research Completion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3721607"/>
            <a:ext cx="5623560" cy="18745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45352" y="3744468"/>
            <a:ext cx="5477256" cy="15087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Sp'28: proposal writing; retake window only if needed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72200" y="3914546"/>
            <a:ext cx="5623560" cy="18745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45352" y="3937406"/>
            <a:ext cx="5477256" cy="15087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Su'28-Fa'28: proposal completion and defense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72200" y="4107484"/>
            <a:ext cx="5623560" cy="18745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45352" y="4130344"/>
            <a:ext cx="5477256" cy="15087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Sp'29-Su'29: data collection and analysis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72200" y="4300423"/>
            <a:ext cx="5623560" cy="187452"/>
          </a:xfrm>
          <a:prstGeom prst="rect">
            <a:avLst/>
          </a:prstGeom>
          <a:solidFill>
            <a:srgbClr val="111827"/>
          </a:solidFill>
          <a:ln w="31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45352" y="4323283"/>
            <a:ext cx="5477256" cy="15087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00" b="0">
                <a:solidFill>
                  <a:srgbClr val="CBD5E1"/>
                </a:solidFill>
                <a:latin typeface="Calibri"/>
              </a:rPr>
              <a:t>Fa'29: dissertation writing, final defense, ETD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8600" y="6236208"/>
            <a:ext cx="1170432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" y="6318504"/>
            <a:ext cx="11338560" cy="246888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3B82F6"/>
                </a:solidFill>
                <a:latin typeface="Calibri"/>
              </a:rPr>
              <a:t>Credit summary: 21 transfer + 41 Purdue coursework + 41 dissertation/research credits = 103 credits listed | Target graduation: Fall 2029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32004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rebuchet MS"/>
              </a:rPr>
              <a:t>RESEARCH PHASES, CONTROLS, AND IDP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58368"/>
            <a:ext cx="557784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704088"/>
            <a:ext cx="3931920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1">
                <a:solidFill>
                  <a:srgbClr val="FFFFFF"/>
                </a:solidFill>
                <a:latin typeface="Calibri"/>
              </a:rPr>
              <a:t>PHASE 1: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704088"/>
            <a:ext cx="1280160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r"/>
            <a:r>
              <a:rPr sz="760" b="1">
                <a:solidFill>
                  <a:srgbClr val="FFFFFF"/>
                </a:solidFill>
                <a:latin typeface="Calibri"/>
              </a:rPr>
              <a:t>Sp'26 - Sp'27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50976"/>
            <a:ext cx="5577840" cy="1371600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42415"/>
            <a:ext cx="530352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- Literature review and research problem framing.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53312"/>
            <a:ext cx="530352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- Advisor meetings; first publication idea.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64208"/>
            <a:ext cx="530352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- Build technical base in ML, CV, statistics, optimization.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658368"/>
            <a:ext cx="557784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704088"/>
            <a:ext cx="3931920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1">
                <a:solidFill>
                  <a:srgbClr val="FFFFFF"/>
                </a:solidFill>
                <a:latin typeface="Calibri"/>
              </a:rPr>
              <a:t>PHASE 2: QUALIFICATION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704088"/>
            <a:ext cx="1280160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r"/>
            <a:r>
              <a:rPr sz="760" b="1">
                <a:solidFill>
                  <a:srgbClr val="FFFFFF"/>
                </a:solidFill>
                <a:latin typeface="Calibri"/>
              </a:rPr>
              <a:t>Su'27 - Fa'27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950976"/>
            <a:ext cx="5577840" cy="1371600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042415"/>
            <a:ext cx="530352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- POS/course audit, committee, reading list, written/oral prelim.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353312"/>
            <a:ext cx="530352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- Synthesis-focused study, not memorization-only review.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664208"/>
            <a:ext cx="530352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- Spring 2028 retake window exists only as contingency.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999232"/>
            <a:ext cx="557784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044952"/>
            <a:ext cx="3931920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1">
                <a:solidFill>
                  <a:srgbClr val="FFFFFF"/>
                </a:solidFill>
                <a:latin typeface="Calibri"/>
              </a:rPr>
              <a:t>PHASE 3: PROPOSAL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3044952"/>
            <a:ext cx="1280160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r"/>
            <a:r>
              <a:rPr sz="760" b="1">
                <a:solidFill>
                  <a:srgbClr val="FFFFFF"/>
                </a:solidFill>
                <a:latin typeface="Calibri"/>
              </a:rPr>
              <a:t>Sp'28 - Fa'28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91840"/>
            <a:ext cx="5577840" cy="1371600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383280"/>
            <a:ext cx="530352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- Proposal writing, methodology, data protocol, committee feedback.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94176"/>
            <a:ext cx="530352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- IRB or data permissions if required by final design.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05072"/>
            <a:ext cx="530352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- Proposal defense in Fall 2028.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2999232"/>
            <a:ext cx="5577840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799" y="3044952"/>
            <a:ext cx="3931920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869" b="1">
                <a:solidFill>
                  <a:srgbClr val="FFFFFF"/>
                </a:solidFill>
                <a:latin typeface="Calibri"/>
              </a:rPr>
              <a:t>PHASE 4: COMPLETION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9880" y="3044952"/>
            <a:ext cx="1280160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r"/>
            <a:r>
              <a:rPr sz="760" b="1">
                <a:solidFill>
                  <a:srgbClr val="FFFFFF"/>
                </a:solidFill>
                <a:latin typeface="Calibri"/>
              </a:rPr>
              <a:t>Sp'29 - Fa'29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59" y="3291840"/>
            <a:ext cx="5577840" cy="1371600"/>
          </a:xfrm>
          <a:prstGeom prst="rect">
            <a:avLst/>
          </a:prstGeom>
          <a:solidFill>
            <a:srgbClr val="111827"/>
          </a:solidFill>
          <a:ln w="381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383280"/>
            <a:ext cx="530352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- Data collection and analysis in Spring-Summer 2029.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694176"/>
            <a:ext cx="530352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- Dissertation writing and revisions through Fall 2029.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005072"/>
            <a:ext cx="530352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- Final defense, ETD submission, graduation clearance.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486400"/>
            <a:ext cx="11521440" cy="274320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536692"/>
            <a:ext cx="3657600" cy="182880"/>
          </a:xfrm>
          <a:prstGeom prst="rect">
            <a:avLst/>
          </a:prstGeom>
          <a:noFill/>
        </p:spPr>
        <p:txBody>
          <a:bodyPr wrap="non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Calibri"/>
              </a:rPr>
              <a:t>Controls added in Version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870448"/>
            <a:ext cx="548640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- Prelim is expanded into a checklist-driven workflow, not a single date.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870448"/>
            <a:ext cx="548640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- Retake contingency is visible but separated from the main success path.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199632"/>
            <a:ext cx="548640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- Research-only semesters are explicit: Sp'29, Su'29, and Fa'29.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6199632"/>
            <a:ext cx="548640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720" b="0">
                <a:solidFill>
                  <a:srgbClr val="CBD5E1"/>
                </a:solidFill>
                <a:latin typeface="Calibri"/>
              </a:rPr>
              <a:t>- Final defense remains the terminal milestone with ETD/graduation clearance.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